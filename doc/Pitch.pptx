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13"/>
  </p:notesMasterIdLst>
  <p:sldIdLst>
    <p:sldId id="279" r:id="rId5"/>
    <p:sldId id="291" r:id="rId6"/>
    <p:sldId id="302" r:id="rId7"/>
    <p:sldId id="306" r:id="rId8"/>
    <p:sldId id="305" r:id="rId9"/>
    <p:sldId id="284" r:id="rId10"/>
    <p:sldId id="286" r:id="rId11"/>
    <p:sldId id="2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25"/>
    <p:restoredTop sz="94647"/>
  </p:normalViewPr>
  <p:slideViewPr>
    <p:cSldViewPr snapToGrid="0" snapToObjects="1">
      <p:cViewPr>
        <p:scale>
          <a:sx n="112" d="100"/>
          <a:sy n="112" d="100"/>
        </p:scale>
        <p:origin x="125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C3E70-8E5C-A745-A3AD-C040B00FA016}" type="datetimeFigureOut">
              <a:rPr lang="de-DE" smtClean="0"/>
              <a:t>26.03.26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CD2589-00ED-0045-B9E9-13D89BDF7E3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5246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605E-31D4-F446-9995-D7AFB2D9EA8B}" type="datetime1">
              <a:rPr lang="de-DE" smtClean="0"/>
              <a:t>26.03.26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Felix Knoll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FC8A8-C107-E443-9CB3-A14D1E40A244}" type="datetime1">
              <a:rPr lang="de-DE" smtClean="0"/>
              <a:t>26.03.26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Felix Knoll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9CDEC-45A7-5B49-BD8A-34A58370FF34}" type="datetime1">
              <a:rPr lang="de-DE" smtClean="0"/>
              <a:t>26.03.26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Felix Knoll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FD09-790D-AF42-B684-5D6E80682F46}" type="datetime1">
              <a:rPr lang="de-DE" smtClean="0"/>
              <a:t>26.03.26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Felix Knoll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6073-51E4-7A4C-B2E4-B967A9DC37AE}" type="datetime1">
              <a:rPr lang="de-DE" smtClean="0"/>
              <a:t>26.03.26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Felix Knoll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6535C-4160-0B44-B4E3-DAE8CC33FC8A}" type="datetime1">
              <a:rPr lang="de-DE" smtClean="0"/>
              <a:t>26.03.26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Felix Knoll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65B7-CA2F-1441-B498-0DC6DCD4B629}" type="datetime1">
              <a:rPr lang="de-DE" smtClean="0"/>
              <a:t>26.03.26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Felix Knoll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42329-E089-E445-A810-410A15B9FC10}" type="datetime1">
              <a:rPr lang="de-DE" smtClean="0"/>
              <a:t>26.03.26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Felix Knoll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E2AAA-320F-A648-B5D4-53EDBCFE04FB}" type="datetime1">
              <a:rPr lang="de-DE" smtClean="0"/>
              <a:t>26.03.26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Felix Knoll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6D9B6-60B4-614C-90F9-D96987BA6DFB}" type="datetime1">
              <a:rPr lang="de-DE" smtClean="0"/>
              <a:t>26.03.26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Felix Knoll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0A382-36C9-A247-AE6E-72823E30E5DB}" type="datetime1">
              <a:rPr lang="de-DE" smtClean="0"/>
              <a:t>26.03.26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Felix Knoll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2891E-E729-554B-BC8E-8D69FF64FFCC}" type="datetime1">
              <a:rPr lang="de-DE" smtClean="0"/>
              <a:t>26.03.26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Felix Knoll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  <p:sp>
        <p:nvSpPr>
          <p:cNvPr id="100" name="Accent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1" name="TopLine"/>
          <p:cNvSpPr/>
          <p:nvPr userDrawn="1"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4A90A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2D4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34EEE5-D78A-66AB-C318-659374635C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de-DE" sz="4400" b="1" dirty="0" err="1"/>
              <a:t>HydroNodeStation</a:t>
            </a:r>
            <a:r>
              <a:rPr lang="de-DE" sz="4400" b="1" dirty="0"/>
              <a:t> 01</a:t>
            </a:r>
          </a:p>
          <a:p>
            <a:pPr algn="ctr">
              <a:buNone/>
            </a:pPr>
            <a:r>
              <a:rPr lang="de-DE" sz="2400" dirty="0"/>
              <a:t>Autarke </a:t>
            </a:r>
            <a:r>
              <a:rPr lang="de-DE" sz="2400" b="0" dirty="0"/>
              <a:t>Wetterstation inkl. KI-Analyse im HydroNode-Netzwerk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AA1666-8237-85ED-C8AC-D7790F263A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de-DE" sz="2000" b="1" dirty="0"/>
              <a:t>Felix Knoll</a:t>
            </a:r>
          </a:p>
          <a:p>
            <a:pPr algn="ctr">
              <a:buNone/>
            </a:pPr>
            <a:r>
              <a:rPr lang="de-DE" sz="1800" dirty="0"/>
              <a:t> Einzel-Projekt</a:t>
            </a:r>
          </a:p>
          <a:p>
            <a:pPr algn="ctr">
              <a:buNone/>
            </a:pPr>
            <a:r>
              <a:rPr lang="de-DE" sz="1600" dirty="0"/>
              <a:t>DAPI</a:t>
            </a:r>
          </a:p>
        </p:txBody>
      </p:sp>
    </p:spTree>
    <p:extLst>
      <p:ext uri="{BB962C8B-B14F-4D97-AF65-F5344CB8AC3E}">
        <p14:creationId xmlns:p14="http://schemas.microsoft.com/office/powerpoint/2010/main" val="1870908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AEEFA9-2B6E-2FAB-6590-56704FD9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de-DE" sz="3200" b="1" dirty="0"/>
              <a:t>Projektbeschreibung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91805E-2931-9ED6-3DE2-49B8D32A1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894"/>
            <a:ext cx="10515600" cy="45065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1600" b="1" dirty="0"/>
              <a:t>Ausgangslage &amp; Zielsetzung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Das HydroNode-Netzwerk inkl. mobiler iOS-App ist vollständig entwickelt und ermöglicht die digitale Verwaltung, Visualisierung und Analyse von Umweltdaten in einem vernetzten System.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Im nächsten Schritt werden physische Wetterstationen mit autarker Solar-/Akkuversorgung und erweiterter Umweltsensorik (inkl. CO</a:t>
            </a:r>
            <a:r>
              <a:rPr lang="de-DE" sz="1400" baseline="-25000" dirty="0"/>
              <a:t>2</a:t>
            </a:r>
            <a:r>
              <a:rPr lang="de-DE" sz="1400" dirty="0"/>
              <a:t>, Lautstärke) in das Netzwerk integriert.</a:t>
            </a:r>
          </a:p>
          <a:p>
            <a:pPr marL="0" indent="0">
              <a:buNone/>
            </a:pPr>
            <a:r>
              <a:rPr lang="de-DE" sz="1600" b="1" dirty="0"/>
              <a:t>Technischer Umfang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Sensorik: Temperatur, Luftfeuchtigkeit, Luftdruck, UV-Index, Partikelkonzentration, CO</a:t>
            </a:r>
            <a:r>
              <a:rPr lang="de-DE" sz="1400" baseline="-25000" dirty="0"/>
              <a:t>2</a:t>
            </a:r>
            <a:r>
              <a:rPr lang="de-DE" sz="1400" dirty="0"/>
              <a:t>-Konzentration sowie Umgebungslautstärke.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Datenübertragung vollständig autark via LoRaWAN über das Helium-Netzwerk, ohne WLAN oder lokale Infrastruktur. Daten fließen ins </a:t>
            </a:r>
            <a:r>
              <a:rPr lang="de-DE" sz="1400" dirty="0" err="1"/>
              <a:t>HydroNode</a:t>
            </a:r>
            <a:r>
              <a:rPr lang="de-DE" sz="1400" dirty="0"/>
              <a:t>-Backend, wo diese verarbeitet und gespeichert werden.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Stromversorgung über Solarmodul und LiPo-Akku für netzunabhängigen Dauerbetrieb. Optimierung durch Deep-Sleep-Modi und energieeffiziente Sensorik wird im Rahmen von Hardwaretests erarbeitet.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Nach erfolgreichem Prototyping wird ein PCB entwickelt und produziert.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Abschließend wird evaluiert, welche Mehrwerte KI-Methoden aus den gesammelten Sensordaten generieren können (Luftqualität), zunächst explorativ, perspektivisch als produktives Feature.</a:t>
            </a:r>
          </a:p>
          <a:p>
            <a:pPr marL="0" indent="0">
              <a:buNone/>
            </a:pPr>
            <a:r>
              <a:rPr lang="de-DE" sz="1600" b="1" dirty="0"/>
              <a:t>Abgrenzung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Einzel-Projekt. App-Basis und Netzwerk-Infrastruktur sind bereits vorhanden. Fokus: Hardware, Sensorik, LoRaWAN-Anbindung, Autarkie und abschließende KI-Evaluation.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F8C805-AEDB-D94A-BDA5-DA096B18A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2</a:t>
            </a:fld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01430E-0F3F-4B58-A7C4-EB1FF9332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61861-06DA-0345-A347-2864EE02D252}" type="datetime1">
              <a:rPr lang="de-DE" smtClean="0"/>
              <a:t>26.03.26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67A623-716A-F706-8106-8C8EAE1BE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Felix Knoll</a:t>
            </a:r>
          </a:p>
        </p:txBody>
      </p:sp>
    </p:spTree>
    <p:extLst>
      <p:ext uri="{BB962C8B-B14F-4D97-AF65-F5344CB8AC3E}">
        <p14:creationId xmlns:p14="http://schemas.microsoft.com/office/powerpoint/2010/main" val="3622140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0F5EFB-6996-C2A3-61F8-F7A5486BF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de-DE" sz="3200" b="1" dirty="0" err="1"/>
              <a:t>HydroNode</a:t>
            </a:r>
            <a:r>
              <a:rPr lang="de-DE" sz="3200" b="1" dirty="0"/>
              <a:t> – Technische Übersicht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D84391-CF9A-4618-D434-D85193D4A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1000"/>
            <a:ext cx="8877300" cy="4457952"/>
          </a:xfrm>
        </p:spPr>
        <p:txBody>
          <a:bodyPr wrap="square" anchor="t" anchorCtr="0">
            <a:spAutoFit/>
          </a:bodyPr>
          <a:lstStyle/>
          <a:p>
            <a:pPr marL="0" indent="0">
              <a:buNone/>
            </a:pPr>
            <a:r>
              <a:rPr lang="de-DE" sz="1800" b="1" dirty="0"/>
              <a:t>Was bereits existiert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iOS-App (Swift) vollständig entwickelt: Echtzeit-Datenvisualisierung, Nutzerkonten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Backend-Infrastruktur: API, Datenbank, Kafka-Pipeline, Webhook für Arduino Library für WLAN-Sensorik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HydroNode-Netzwerk: Geräteregistrierung, Stationsverwaltung, Datenabruf und Speicherung produktiv</a:t>
            </a:r>
          </a:p>
          <a:p>
            <a:pPr marL="0" indent="0">
              <a:buNone/>
            </a:pPr>
            <a:r>
              <a:rPr lang="de-DE" sz="1400" dirty="0"/>
              <a:t>-&gt; Fokus dieses Projekts: physische Wetterstation: Hardware, Autarkie, PCB-Entwicklung, KI-Evaluation</a:t>
            </a:r>
          </a:p>
          <a:p>
            <a:pPr marL="0" indent="0">
              <a:buNone/>
            </a:pPr>
            <a:endParaRPr lang="de-DE" sz="1800" b="1" dirty="0"/>
          </a:p>
          <a:p>
            <a:pPr marL="0" indent="0">
              <a:buNone/>
            </a:pPr>
            <a:r>
              <a:rPr lang="de-DE" sz="1800" b="1" dirty="0" err="1"/>
              <a:t>HydroNodeStation</a:t>
            </a:r>
            <a:r>
              <a:rPr lang="de-DE" sz="1800" b="1" dirty="0"/>
              <a:t> 01 - Prototyp: Sensoren &amp; Mikrocontroller</a:t>
            </a:r>
          </a:p>
          <a:p>
            <a:pPr>
              <a:buFont typeface="Arial"/>
              <a:buChar char="•"/>
            </a:pPr>
            <a:r>
              <a:rPr lang="de-DE" sz="1400" dirty="0"/>
              <a:t>Chip: </a:t>
            </a:r>
            <a:r>
              <a:rPr lang="de-DE" sz="1400" b="1" dirty="0"/>
              <a:t>Wio-E5 mini Dev Board mit STM32WLE5JC</a:t>
            </a:r>
            <a:endParaRPr lang="de-DE" sz="1400" dirty="0"/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Temperatur, Luftfeuchtigkeit und Luftdruck: </a:t>
            </a:r>
            <a:r>
              <a:rPr lang="de-DE" sz="1400" b="1" dirty="0"/>
              <a:t>BME280</a:t>
            </a:r>
            <a:r>
              <a:rPr lang="de-DE" sz="1400" dirty="0"/>
              <a:t> 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UV-Index: </a:t>
            </a:r>
            <a:r>
              <a:rPr lang="de-DE" sz="1400" b="1" dirty="0"/>
              <a:t>VEML6075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Feinstaub PM1.0/PM2.5/PM4.0/PM10: </a:t>
            </a:r>
            <a:r>
              <a:rPr lang="de-DE" sz="1400" b="1" dirty="0"/>
              <a:t>SPS30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CO₂: </a:t>
            </a:r>
            <a:r>
              <a:rPr lang="de-DE" sz="1400" b="1" dirty="0"/>
              <a:t>SCD41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Lautstärke (optional): </a:t>
            </a:r>
            <a:r>
              <a:rPr lang="de-DE" sz="1400" b="1" dirty="0"/>
              <a:t>MAX4466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2C1669-511A-A275-3F90-97455E4FB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FC8A8-C107-E443-9CB3-A14D1E40A244}" type="datetime1">
              <a:rPr lang="de-DE" smtClean="0"/>
              <a:t>26.03.26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665A91-F6FE-88B2-B84B-9159EA1BF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Felix Knoll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BC4C3E-17FA-3CF1-3D0A-48B8C3096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3</a:t>
            </a:fld>
            <a:endParaRPr lang="en-US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C04B875-4193-3625-8B21-3E91F8614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1" y="368532"/>
            <a:ext cx="2640330" cy="574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97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3DB4D08C-F104-2433-35AA-0C7E7E9C5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3679"/>
          <a:stretch>
            <a:fillRect/>
          </a:stretch>
        </p:blipFill>
        <p:spPr>
          <a:xfrm>
            <a:off x="3208514" y="41591"/>
            <a:ext cx="5512575" cy="6715245"/>
          </a:xfrm>
        </p:spPr>
      </p:pic>
      <p:sp>
        <p:nvSpPr>
          <p:cNvPr id="4" name="Datumsplatzhalter 3" hidden="1">
            <a:extLst>
              <a:ext uri="{FF2B5EF4-FFF2-40B4-BE49-F238E27FC236}">
                <a16:creationId xmlns:a16="http://schemas.microsoft.com/office/drawing/2014/main" id="{A9E1A358-57B1-9505-8530-5AA24F730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67FC8A8-C107-E443-9CB3-A14D1E40A244}" type="datetime1">
              <a:rPr lang="de-DE" smtClean="0"/>
              <a:pPr>
                <a:spcAft>
                  <a:spcPts val="600"/>
                </a:spcAft>
              </a:pPr>
              <a:t>26.03.26</a:t>
            </a:fld>
            <a:endParaRPr lang="en-US"/>
          </a:p>
        </p:txBody>
      </p:sp>
      <p:sp>
        <p:nvSpPr>
          <p:cNvPr id="6" name="Foliennummernplatzhalter 5" hidden="1">
            <a:extLst>
              <a:ext uri="{FF2B5EF4-FFF2-40B4-BE49-F238E27FC236}">
                <a16:creationId xmlns:a16="http://schemas.microsoft.com/office/drawing/2014/main" id="{12C899CB-B533-C3D7-CE0E-7F2826AB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E05DC9C-C50D-D242-B083-59CEE07163F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C5720A3-B26F-BF9F-4437-7274DA4441B6}"/>
              </a:ext>
            </a:extLst>
          </p:cNvPr>
          <p:cNvSpPr txBox="1"/>
          <p:nvPr/>
        </p:nvSpPr>
        <p:spPr>
          <a:xfrm>
            <a:off x="7258050" y="533400"/>
            <a:ext cx="437515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de-DE" sz="4400" dirty="0"/>
              <a:t>Architekturskizze</a:t>
            </a:r>
            <a:endParaRPr lang="de-DE" sz="4400" b="1" dirty="0"/>
          </a:p>
        </p:txBody>
      </p:sp>
    </p:spTree>
    <p:extLst>
      <p:ext uri="{BB962C8B-B14F-4D97-AF65-F5344CB8AC3E}">
        <p14:creationId xmlns:p14="http://schemas.microsoft.com/office/powerpoint/2010/main" val="3310927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004665-E4BE-2FF6-EDE0-B3C11B727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de-DE" sz="3200" b="1" dirty="0"/>
              <a:t>KI-Analyse &amp; Testmöglichkeiten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FE8A26-5BAE-CC39-BB82-2AB4A960D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1000"/>
            <a:ext cx="10515600" cy="4121962"/>
          </a:xfrm>
        </p:spPr>
        <p:txBody>
          <a:bodyPr anchor="t" anchorCtr="0">
            <a:spAutoFit/>
          </a:bodyPr>
          <a:lstStyle/>
          <a:p>
            <a:pPr marL="0" indent="0">
              <a:buNone/>
            </a:pPr>
            <a:r>
              <a:rPr lang="de-DE" sz="1800" b="1" dirty="0"/>
              <a:t>KI-Analyse: Möglichkeiten</a:t>
            </a:r>
          </a:p>
          <a:p>
            <a:pPr marL="228600" indent="-228600">
              <a:buFont typeface="Arial"/>
              <a:buChar char="•"/>
            </a:pPr>
            <a:r>
              <a:rPr lang="de-DE" sz="1500" dirty="0"/>
              <a:t>Datenpipeline: </a:t>
            </a:r>
            <a:r>
              <a:rPr lang="de-DE" sz="1500" dirty="0" err="1"/>
              <a:t>LoRaWAN</a:t>
            </a:r>
            <a:r>
              <a:rPr lang="de-DE" sz="1500" dirty="0"/>
              <a:t> -&gt; Helium-Netzwerk -&gt; Backend-API -&gt; Kafka-Stream -&gt; </a:t>
            </a:r>
            <a:r>
              <a:rPr lang="de-DE" sz="1500" dirty="0" err="1"/>
              <a:t>Postgres</a:t>
            </a:r>
            <a:r>
              <a:rPr lang="de-DE" sz="1500" dirty="0"/>
              <a:t>-DB</a:t>
            </a:r>
          </a:p>
          <a:p>
            <a:pPr marL="228600" indent="-228600">
              <a:buFont typeface="Arial"/>
              <a:buChar char="•"/>
            </a:pPr>
            <a:r>
              <a:rPr lang="de-DE" sz="1500" dirty="0"/>
              <a:t>Anomalie-Erkennung: </a:t>
            </a:r>
            <a:r>
              <a:rPr lang="de-DE" sz="1500" b="1" dirty="0"/>
              <a:t>Isolation Forest</a:t>
            </a:r>
            <a:r>
              <a:rPr lang="de-DE" sz="1500" dirty="0"/>
              <a:t> (unüberwacht) oder </a:t>
            </a:r>
            <a:r>
              <a:rPr lang="de-DE" sz="1500" b="1" dirty="0"/>
              <a:t>Autoencoder</a:t>
            </a:r>
            <a:r>
              <a:rPr lang="de-DE" sz="1500" dirty="0"/>
              <a:t> (neuronales Netz) für Ausreißer in Sensordaten</a:t>
            </a:r>
          </a:p>
          <a:p>
            <a:pPr>
              <a:buFont typeface="Arial"/>
              <a:buChar char="•"/>
            </a:pPr>
            <a:r>
              <a:rPr lang="de-DE" sz="1500" dirty="0"/>
              <a:t>Zeitreihen-Prognose: </a:t>
            </a:r>
            <a:r>
              <a:rPr lang="de-DE" sz="1500" b="1" dirty="0"/>
              <a:t>LSTM</a:t>
            </a:r>
            <a:r>
              <a:rPr lang="de-DE" sz="1500" dirty="0"/>
              <a:t>-Modell für Trendvorhersagen (CO</a:t>
            </a:r>
            <a:r>
              <a:rPr lang="de-DE" sz="1500" baseline="-25000" dirty="0"/>
              <a:t>2</a:t>
            </a:r>
            <a:r>
              <a:rPr lang="de-DE" sz="1500" dirty="0"/>
              <a:t>, Feinstaub, Temperatur)</a:t>
            </a:r>
          </a:p>
          <a:p>
            <a:pPr marL="228600" indent="-228600">
              <a:buFont typeface="Arial"/>
              <a:buChar char="•"/>
            </a:pPr>
            <a:r>
              <a:rPr lang="de-DE" sz="1500" dirty="0"/>
              <a:t>Korrelationsanalyse: statistische Zusammenhänge zwischen allen Sensorkanälen (z. B. Lautstärke &lt;-&gt; CO</a:t>
            </a:r>
            <a:r>
              <a:rPr lang="de-DE" sz="1500" baseline="-25000" dirty="0"/>
              <a:t>2</a:t>
            </a:r>
            <a:r>
              <a:rPr lang="de-DE" sz="1500" dirty="0"/>
              <a:t> &lt;-&gt; Feinstaub)</a:t>
            </a:r>
          </a:p>
          <a:p>
            <a:pPr marL="228600" indent="-228600">
              <a:buFont typeface="Arial"/>
              <a:buChar char="•"/>
            </a:pPr>
            <a:r>
              <a:rPr lang="de-DE" sz="1500" dirty="0"/>
              <a:t>Luftqualitäts-Klassifikation: Einstufung in Kategorien (gut / moderat / kritisch) auf Basis kombinierter Sensorwerte</a:t>
            </a:r>
          </a:p>
          <a:p>
            <a:pPr marL="0" indent="0">
              <a:buNone/>
            </a:pPr>
            <a:endParaRPr lang="de-DE" sz="1800" b="1" dirty="0"/>
          </a:p>
          <a:p>
            <a:pPr marL="0" indent="0">
              <a:buNone/>
            </a:pPr>
            <a:r>
              <a:rPr lang="de-DE" sz="1800" b="1" dirty="0"/>
              <a:t>Was man konkret testen kann</a:t>
            </a:r>
          </a:p>
          <a:p>
            <a:pPr marL="228600" indent="-228600">
              <a:buFont typeface="Arial"/>
              <a:buChar char="•"/>
            </a:pPr>
            <a:r>
              <a:rPr lang="de-DE" sz="1500" dirty="0"/>
              <a:t>Sensor-Ausfall oder unplausible Messwerte automatisch erkennen und flaggen</a:t>
            </a:r>
          </a:p>
          <a:p>
            <a:pPr>
              <a:buFont typeface="Arial"/>
              <a:buChar char="•"/>
            </a:pPr>
            <a:r>
              <a:rPr lang="de-DE" sz="1500" dirty="0"/>
              <a:t>Kurzzeit-Prognose: CO</a:t>
            </a:r>
            <a:r>
              <a:rPr lang="de-DE" sz="1500" baseline="-25000" dirty="0"/>
              <a:t>2</a:t>
            </a:r>
            <a:r>
              <a:rPr lang="de-DE" sz="1500" dirty="0"/>
              <a:t>-Anstieg, Feinstaubspitzen oder Lärmereignisse vorhersagen (15–60 Min. Horizont)</a:t>
            </a:r>
          </a:p>
          <a:p>
            <a:pPr marL="228600" indent="-228600">
              <a:buFont typeface="Arial"/>
              <a:buChar char="•"/>
            </a:pPr>
            <a:r>
              <a:rPr lang="de-DE" sz="1500" dirty="0"/>
              <a:t>Standortvergleich: Muster zwischen mehreren Stationen identifizieren (urban vs. ländlich, Tageszeiten)</a:t>
            </a:r>
          </a:p>
          <a:p>
            <a:pPr marL="228600" indent="-228600">
              <a:buFont typeface="Arial"/>
              <a:buChar char="•"/>
            </a:pPr>
            <a:r>
              <a:rPr lang="de-DE" sz="1500" dirty="0"/>
              <a:t>Perspektivisch: Push-Benachrichtigungen via App bei Grenzwertüberschreitungen (z. B. Feinstaub, CO₂)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291A32-2B79-3E7E-62D4-79C86CCB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FC8A8-C107-E443-9CB3-A14D1E40A244}" type="datetime1">
              <a:rPr lang="de-DE" smtClean="0"/>
              <a:t>26.03.26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8752CE-22F5-2B3C-7D0E-D71B247E2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Felix Knoll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B58050-9B1B-60C4-E982-57A362A48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76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E829E9-6EEC-913E-252A-F71113C9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42628"/>
            <a:ext cx="10515600" cy="1325563"/>
          </a:xfrm>
        </p:spPr>
        <p:txBody>
          <a:bodyPr/>
          <a:lstStyle/>
          <a:p>
            <a:pPr>
              <a:buNone/>
            </a:pPr>
            <a:r>
              <a:rPr lang="de-DE" sz="3000" b="1" dirty="0"/>
              <a:t>Feature-Liste mit Aufwandsschätzung</a:t>
            </a:r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0696C782-3829-FD4E-BE71-2263EFBDE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964050"/>
              </p:ext>
            </p:extLst>
          </p:nvPr>
        </p:nvGraphicFramePr>
        <p:xfrm>
          <a:off x="508000" y="1270000"/>
          <a:ext cx="8318500" cy="4782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82890076"/>
                    </a:ext>
                  </a:extLst>
                </a:gridCol>
                <a:gridCol w="5778500">
                  <a:extLst>
                    <a:ext uri="{9D8B030D-6E8A-4147-A177-3AD203B41FA5}">
                      <a16:colId xmlns:a16="http://schemas.microsoft.com/office/drawing/2014/main" val="390843811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37439417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733190003"/>
                    </a:ext>
                  </a:extLst>
                </a:gridCol>
              </a:tblGrid>
              <a:tr h="429491"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FFFFFF"/>
                          </a:solidFill>
                        </a:rPr>
                        <a:t>Feature / Aufgabe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solidFill>
                            <a:srgbClr val="FFFFFF"/>
                          </a:solidFill>
                        </a:rPr>
                        <a:t>Bereich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solidFill>
                            <a:srgbClr val="FFFFFF"/>
                          </a:solidFill>
                        </a:rPr>
                        <a:t>Std.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221188"/>
                  </a:ext>
                </a:extLst>
              </a:tr>
              <a:tr h="429491"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Hardware-Auswahl &amp; Beschaffung (ESP32, Sensoren, Solar, Akku, LoRa-Modul, Gehäuse)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Hardware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>
                          <a:solidFill>
                            <a:srgbClr val="0D1B2A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604996"/>
                  </a:ext>
                </a:extLst>
              </a:tr>
              <a:tr h="429491"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Schaltplan &amp; Aufbau der Wetterstation-Elektronik</a:t>
                      </a:r>
                    </a:p>
                  </a:txBody>
                  <a:tcPr anchor="ctr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Hardware</a:t>
                      </a:r>
                    </a:p>
                  </a:txBody>
                  <a:tcPr anchor="ctr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>
                          <a:solidFill>
                            <a:srgbClr val="0D1B2A"/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572116"/>
                  </a:ext>
                </a:extLst>
              </a:tr>
              <a:tr h="429491"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Sensor: Temperatur &amp; Luftfeuchtigkeit &amp; Luftdruck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Sensorik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 dirty="0">
                          <a:solidFill>
                            <a:srgbClr val="0D1B2A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369473"/>
                  </a:ext>
                </a:extLst>
              </a:tr>
              <a:tr h="429491"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Sensor: UV-Index &amp; Lichtstärke (VEML6075)</a:t>
                      </a:r>
                    </a:p>
                  </a:txBody>
                  <a:tcPr anchor="ctr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Sensorik</a:t>
                      </a:r>
                    </a:p>
                  </a:txBody>
                  <a:tcPr anchor="ctr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 dirty="0">
                          <a:solidFill>
                            <a:srgbClr val="0D1B2A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686606"/>
                  </a:ext>
                </a:extLst>
              </a:tr>
              <a:tr h="429491"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Sensor: Partikel Konzentration (SPS30)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Sensorik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>
                          <a:solidFill>
                            <a:srgbClr val="0D1B2A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970807"/>
                  </a:ext>
                </a:extLst>
              </a:tr>
              <a:tr h="429491"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Sensor: CO₂-Konzentration</a:t>
                      </a:r>
                    </a:p>
                  </a:txBody>
                  <a:tcPr anchor="ctr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Sensorik</a:t>
                      </a:r>
                    </a:p>
                  </a:txBody>
                  <a:tcPr anchor="ctr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 dirty="0">
                          <a:solidFill>
                            <a:srgbClr val="0D1B2A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089274"/>
                  </a:ext>
                </a:extLst>
              </a:tr>
              <a:tr h="429491"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Sensor: Umgebungslautstärke (MEMS-Mikrofon)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Sensorik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>
                          <a:solidFill>
                            <a:srgbClr val="0D1B2A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53471"/>
                  </a:ext>
                </a:extLst>
              </a:tr>
              <a:tr h="429491"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Standalone-Test: Sensoren &amp; LoRaWAN ohne Systemanbindung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Testing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 dirty="0">
                          <a:solidFill>
                            <a:srgbClr val="0D1B2A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64599"/>
                  </a:ext>
                </a:extLst>
              </a:tr>
              <a:tr h="429491"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PCB-Design, Bestellung &amp; Bestückung (Layout, Schematic, Order)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PCB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 dirty="0">
                          <a:solidFill>
                            <a:srgbClr val="0D1B2A"/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399004"/>
                  </a:ext>
                </a:extLst>
              </a:tr>
              <a:tr h="429491"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Autarke Stromversorgung: Solar-Laderegler + </a:t>
                      </a:r>
                      <a:r>
                        <a:rPr lang="de-DE" sz="1300" dirty="0" err="1">
                          <a:solidFill>
                            <a:srgbClr val="0D1B2A"/>
                          </a:solidFill>
                        </a:rPr>
                        <a:t>LiPo</a:t>
                      </a:r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-Akku-Management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Autarkie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 dirty="0">
                          <a:solidFill>
                            <a:srgbClr val="0D1B2A"/>
                          </a:solidFill>
                        </a:rPr>
                        <a:t>13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136610"/>
                  </a:ext>
                </a:extLst>
              </a:tr>
            </a:tbl>
          </a:graphicData>
        </a:graphic>
      </p:graphicFrame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EE5E726A-463D-1256-F00C-57F762D4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6</a:t>
            </a:fld>
            <a:endParaRPr lang="en-US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1F5ED39B-739F-798D-E105-75A51741D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05C0-08B3-4D48-BFDE-8C2A18D2C40B}" type="datetime1">
              <a:rPr lang="de-DE" smtClean="0"/>
              <a:t>26.03.26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6FDB129D-F90D-3B28-91BA-A30F46E4C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Felix Knoll</a:t>
            </a:r>
          </a:p>
        </p:txBody>
      </p:sp>
    </p:spTree>
    <p:extLst>
      <p:ext uri="{BB962C8B-B14F-4D97-AF65-F5344CB8AC3E}">
        <p14:creationId xmlns:p14="http://schemas.microsoft.com/office/powerpoint/2010/main" val="2087214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DCE93391-C5F0-F148-80E9-1572C9CB5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49900"/>
              </p:ext>
            </p:extLst>
          </p:nvPr>
        </p:nvGraphicFramePr>
        <p:xfrm>
          <a:off x="508000" y="1270000"/>
          <a:ext cx="8318500" cy="480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3186858468"/>
                    </a:ext>
                  </a:extLst>
                </a:gridCol>
                <a:gridCol w="5778500">
                  <a:extLst>
                    <a:ext uri="{9D8B030D-6E8A-4147-A177-3AD203B41FA5}">
                      <a16:colId xmlns:a16="http://schemas.microsoft.com/office/drawing/2014/main" val="260497751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737832557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289677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FFFFFF"/>
                          </a:solidFill>
                        </a:rPr>
                        <a:t>Feature / Aufgabe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solidFill>
                            <a:srgbClr val="FFFFFF"/>
                          </a:solidFill>
                        </a:rPr>
                        <a:t>Bereich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solidFill>
                            <a:srgbClr val="FFFFFF"/>
                          </a:solidFill>
                        </a:rPr>
                        <a:t>Std.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12319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11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Deep-Sleep &amp; Power-Management Firmware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Firmware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 dirty="0">
                          <a:solidFill>
                            <a:srgbClr val="0D1B2A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58663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12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LoRaWAN-Firmware: Payload-Codec, Sendezyklus, Duty-Cycle-Management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LoRaWAN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 dirty="0">
                          <a:solidFill>
                            <a:srgbClr val="0D1B2A"/>
                          </a:solidFill>
                        </a:rPr>
                        <a:t>12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78153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13</a:t>
                      </a:r>
                    </a:p>
                  </a:txBody>
                  <a:tcPr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Helium-Netzwerk: Device-Registrierung, </a:t>
                      </a:r>
                      <a:r>
                        <a:rPr lang="de-DE" sz="1300" dirty="0" err="1">
                          <a:solidFill>
                            <a:srgbClr val="0D1B2A"/>
                          </a:solidFill>
                        </a:rPr>
                        <a:t>Console</a:t>
                      </a:r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-Integration, Decoder</a:t>
                      </a:r>
                    </a:p>
                  </a:txBody>
                  <a:tcPr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LoRaWAN</a:t>
                      </a:r>
                    </a:p>
                  </a:txBody>
                  <a:tcPr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 dirty="0">
                          <a:solidFill>
                            <a:srgbClr val="0D1B2A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ED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77005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Backend: </a:t>
                      </a:r>
                      <a:r>
                        <a:rPr lang="de-DE" sz="1300" dirty="0" err="1">
                          <a:solidFill>
                            <a:srgbClr val="0D1B2A"/>
                          </a:solidFill>
                        </a:rPr>
                        <a:t>LoRaWAN</a:t>
                      </a:r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-Datenpipeline -&gt; </a:t>
                      </a:r>
                      <a:r>
                        <a:rPr lang="de-DE" sz="1300" dirty="0" err="1">
                          <a:solidFill>
                            <a:srgbClr val="0D1B2A"/>
                          </a:solidFill>
                        </a:rPr>
                        <a:t>HydroNode</a:t>
                      </a:r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 (Amazon SNS)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Backend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>
                          <a:solidFill>
                            <a:srgbClr val="0D1B2A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42133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15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Website: Erstellung einer Website für Echtzeit-Dashboard für alle Stationssensoren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Frontend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 dirty="0">
                          <a:solidFill>
                            <a:srgbClr val="0D1B2A"/>
                          </a:solidFill>
                        </a:rPr>
                        <a:t>14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3033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16</a:t>
                      </a:r>
                    </a:p>
                  </a:txBody>
                  <a:tcPr anchor="ctr">
                    <a:solidFill>
                      <a:srgbClr val="F2FA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App: Historische Verlaufsdiagramme (alle Sensorkanäle)</a:t>
                      </a:r>
                    </a:p>
                  </a:txBody>
                  <a:tcPr anchor="ctr">
                    <a:solidFill>
                      <a:srgbClr val="F2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App / UI</a:t>
                      </a:r>
                    </a:p>
                  </a:txBody>
                  <a:tcPr anchor="ctr">
                    <a:solidFill>
                      <a:srgbClr val="F2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 dirty="0">
                          <a:solidFill>
                            <a:srgbClr val="0D1B2A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F2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04527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17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App: Stations-Verwaltung (Hinzufügen, Benennen, Statusanzeige)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App / UI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 dirty="0">
                          <a:solidFill>
                            <a:srgbClr val="0D1B2A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4226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18</a:t>
                      </a:r>
                    </a:p>
                  </a:txBody>
                  <a:tcPr anchor="ctr">
                    <a:solidFill>
                      <a:srgbClr val="EAD6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KI-Evaluation: Datensatz-Aufbereitung &amp; Modellauswahl</a:t>
                      </a:r>
                    </a:p>
                  </a:txBody>
                  <a:tcPr anchor="ctr">
                    <a:solidFill>
                      <a:srgbClr val="EAD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KI-Eval</a:t>
                      </a:r>
                    </a:p>
                  </a:txBody>
                  <a:tcPr anchor="ctr">
                    <a:solidFill>
                      <a:srgbClr val="EAD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>
                          <a:solidFill>
                            <a:srgbClr val="0D1B2A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EAD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3476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19</a:t>
                      </a:r>
                    </a:p>
                  </a:txBody>
                  <a:tcPr anchor="ctr">
                    <a:solidFill>
                      <a:srgbClr val="F5E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KI-Evaluation: </a:t>
                      </a:r>
                      <a:r>
                        <a:rPr lang="de-DE" sz="1300" dirty="0" err="1">
                          <a:solidFill>
                            <a:srgbClr val="0D1B2A"/>
                          </a:solidFill>
                        </a:rPr>
                        <a:t>Testing</a:t>
                      </a:r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, Benchmarking &amp; Ergebnisdokumentation</a:t>
                      </a:r>
                    </a:p>
                  </a:txBody>
                  <a:tcPr anchor="ctr">
                    <a:solidFill>
                      <a:srgbClr val="F5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KI-Eval</a:t>
                      </a:r>
                    </a:p>
                  </a:txBody>
                  <a:tcPr anchor="ctr">
                    <a:solidFill>
                      <a:srgbClr val="F5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>
                          <a:solidFill>
                            <a:srgbClr val="0D1B2A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F5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95781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20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 dirty="0">
                          <a:solidFill>
                            <a:srgbClr val="0D1B2A"/>
                          </a:solidFill>
                        </a:rPr>
                        <a:t>Feldtest, Integrationstests &amp; Abschlussdokumentation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>
                          <a:solidFill>
                            <a:srgbClr val="0D1B2A"/>
                          </a:solidFill>
                        </a:rPr>
                        <a:t>Abschluss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 dirty="0">
                          <a:solidFill>
                            <a:srgbClr val="0D1B2A"/>
                          </a:solidFill>
                        </a:rPr>
                        <a:t>16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822471"/>
                  </a:ext>
                </a:extLst>
              </a:tr>
            </a:tbl>
          </a:graphicData>
        </a:graphic>
      </p:graphicFrame>
      <p:sp>
        <p:nvSpPr>
          <p:cNvPr id="13" name="Titel 1">
            <a:extLst>
              <a:ext uri="{FF2B5EF4-FFF2-40B4-BE49-F238E27FC236}">
                <a16:creationId xmlns:a16="http://schemas.microsoft.com/office/drawing/2014/main" id="{B963D059-209C-633C-6B8E-D5F897D4670F}"/>
              </a:ext>
            </a:extLst>
          </p:cNvPr>
          <p:cNvSpPr txBox="1">
            <a:spLocks/>
          </p:cNvSpPr>
          <p:nvPr/>
        </p:nvSpPr>
        <p:spPr>
          <a:xfrm>
            <a:off x="508000" y="1426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A1A2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000" b="1"/>
              <a:t>Feature-Liste mit Aufwandsschätzung</a:t>
            </a:r>
            <a:endParaRPr lang="de-DE" sz="3000" b="1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C9348C8-8184-4AF1-1F77-9679B8177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7</a:t>
            </a:fld>
            <a:endParaRPr lang="en-US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E7FBA64B-E987-9CDA-CC11-806CA1A1F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97DF2-42FD-5844-A941-ABDA11B10CA6}" type="datetime1">
              <a:rPr lang="de-DE" smtClean="0"/>
              <a:t>26.03.26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0CA18300-5C74-A801-EECF-161FA0C05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Felix Knoll</a:t>
            </a:r>
          </a:p>
        </p:txBody>
      </p:sp>
    </p:spTree>
    <p:extLst>
      <p:ext uri="{BB962C8B-B14F-4D97-AF65-F5344CB8AC3E}">
        <p14:creationId xmlns:p14="http://schemas.microsoft.com/office/powerpoint/2010/main" val="1878245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0662634F-F46E-CC4B-AC71-D92A106D593C}"/>
              </a:ext>
            </a:extLst>
          </p:cNvPr>
          <p:cNvSpPr txBox="1"/>
          <p:nvPr/>
        </p:nvSpPr>
        <p:spPr>
          <a:xfrm>
            <a:off x="1016000" y="533400"/>
            <a:ext cx="101600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4400" b="1" dirty="0"/>
              <a:t>Verwendung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21CB426-AC6D-AD49-A978-B5BF665725A7}"/>
              </a:ext>
            </a:extLst>
          </p:cNvPr>
          <p:cNvSpPr txBox="1"/>
          <p:nvPr/>
        </p:nvSpPr>
        <p:spPr>
          <a:xfrm>
            <a:off x="1016000" y="14478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2000" dirty="0" err="1"/>
              <a:t>HydroNodeStation</a:t>
            </a:r>
            <a:r>
              <a:rPr lang="de-DE" sz="2000" dirty="0"/>
              <a:t> 01 - Autarke Wetterstation im </a:t>
            </a:r>
            <a:r>
              <a:rPr lang="de-DE" sz="2000" dirty="0" err="1"/>
              <a:t>HydroNode</a:t>
            </a:r>
            <a:r>
              <a:rPr lang="de-DE" sz="2000" dirty="0"/>
              <a:t>-Netzwerk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FB8C61C-9707-B94F-8C79-C2893269623C}"/>
              </a:ext>
            </a:extLst>
          </p:cNvPr>
          <p:cNvSpPr/>
          <p:nvPr/>
        </p:nvSpPr>
        <p:spPr>
          <a:xfrm>
            <a:off x="1016000" y="1905000"/>
            <a:ext cx="10160000" cy="25400"/>
          </a:xfrm>
          <a:prstGeom prst="rect">
            <a:avLst/>
          </a:prstGeom>
          <a:solidFill>
            <a:srgbClr val="2E75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1C2335C-E2CD-8D4D-9EDA-A8C9064356E7}"/>
              </a:ext>
            </a:extLst>
          </p:cNvPr>
          <p:cNvSpPr txBox="1"/>
          <p:nvPr/>
        </p:nvSpPr>
        <p:spPr>
          <a:xfrm>
            <a:off x="1016000" y="2032000"/>
            <a:ext cx="10337800" cy="209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de-DE" sz="1600" b="1" dirty="0"/>
              <a:t>Einsatzmöglichkeiten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Umwelt- &amp; Klimamonitoring: Langzeiterfassung von Luftqualität, Temperatur und Lärm im urbanen oder campusnahen Umfeld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Forschung &amp; Lehre: Reale Sensordaten als Grundlage für Analysen, KI-Experimente und studentische Projekte</a:t>
            </a:r>
          </a:p>
          <a:p>
            <a:pPr marL="228600" indent="-228600">
              <a:buFont typeface="Arial"/>
              <a:buChar char="•"/>
            </a:pPr>
            <a:r>
              <a:rPr lang="de-DE" sz="1400" dirty="0"/>
              <a:t>Smart City: Dezentrales, autarkes Sensornetz ohne Infrastrukturaufwand, skalierbar auf mehrere Standorte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E75327F-6E2E-BC4C-9025-203E14D6E08A}"/>
              </a:ext>
            </a:extLst>
          </p:cNvPr>
          <p:cNvSpPr txBox="1"/>
          <p:nvPr/>
        </p:nvSpPr>
        <p:spPr>
          <a:xfrm>
            <a:off x="838200" y="4343400"/>
            <a:ext cx="10515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de-DE" sz="1700" b="1" dirty="0"/>
              <a:t>Aufstellung an der OTH Regensburg als erster realer Standort möglich</a:t>
            </a:r>
          </a:p>
          <a:p>
            <a:pPr algn="ctr">
              <a:buNone/>
            </a:pPr>
            <a:r>
              <a:rPr lang="de-DE" sz="1400" dirty="0"/>
              <a:t>Campusdaten in Echtzeit, öffentlich einsehbar über das HydroNode-Dashboard</a:t>
            </a:r>
          </a:p>
        </p:txBody>
      </p:sp>
      <p:sp>
        <p:nvSpPr>
          <p:cNvPr id="20" name="SepLine2"/>
          <p:cNvSpPr>
            <a:spLocks noGrp="1"/>
          </p:cNvSpPr>
          <p:nvPr/>
        </p:nvSpPr>
        <p:spPr>
          <a:xfrm>
            <a:off x="1016000" y="4241800"/>
            <a:ext cx="10160000" cy="25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2202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laude Clean">
      <a:dk1>
        <a:srgbClr val="1A1A2E"/>
      </a:dk1>
      <a:lt1>
        <a:srgbClr val="FAFAF8"/>
      </a:lt1>
      <a:dk2>
        <a:srgbClr val="2D2D44"/>
      </a:dk2>
      <a:lt2>
        <a:srgbClr val="F0EDE6"/>
      </a:lt2>
      <a:accent1>
        <a:srgbClr val="D4A574"/>
      </a:accent1>
      <a:accent2>
        <a:srgbClr val="5B8C5A"/>
      </a:accent2>
      <a:accent3>
        <a:srgbClr val="4A90A4"/>
      </a:accent3>
      <a:accent4>
        <a:srgbClr val="E8C468"/>
      </a:accent4>
      <a:accent5>
        <a:srgbClr val="C07A56"/>
      </a:accent5>
      <a:accent6>
        <a:srgbClr val="3D6B7E"/>
      </a:accent6>
      <a:hlink>
        <a:srgbClr val="0563C1"/>
      </a:hlink>
      <a:folHlink>
        <a:srgbClr val="954F72"/>
      </a:folHlink>
    </a:clrScheme>
    <a:fontScheme name="Claude Fonts">
      <a:majorFont>
        <a:latin typeface="Aptos Display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4e5f782-defd-4b15-8c14-fd5dbab0398a}">
  <we:reference id="WA200010001" version="1.0.0.1" store="en-US" storeType="OMEX"/>
  <we:alternateReferences/>
  <we:properties>
    <we:property name="Microsoft.Office.CampaignId" value="&quot;none&quot;"/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</Words>
  <Application>Microsoft Macintosh PowerPoint</Application>
  <PresentationFormat>Breitbild</PresentationFormat>
  <Paragraphs>160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HydroNodeStation 01 Autarke Wetterstation inkl. KI-Analyse im HydroNode-Netzwerk</vt:lpstr>
      <vt:lpstr>Projektbeschreibung</vt:lpstr>
      <vt:lpstr>HydroNode – Technische Übersicht</vt:lpstr>
      <vt:lpstr>PowerPoint-Präsentation</vt:lpstr>
      <vt:lpstr>KI-Analyse &amp; Testmöglichkeiten</vt:lpstr>
      <vt:lpstr>Feature-Liste mit Aufwandsschätzung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Felix Knoll</cp:lastModifiedBy>
  <cp:revision>53</cp:revision>
  <cp:lastPrinted>2026-03-18T14:14:23Z</cp:lastPrinted>
  <dcterms:created xsi:type="dcterms:W3CDTF">2018-06-07T21:39:02Z</dcterms:created>
  <dcterms:modified xsi:type="dcterms:W3CDTF">2026-03-26T12:48:06Z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