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sldIdLst>
    <p:sldId id="303" r:id="rId5"/>
    <p:sldId id="304" r:id="rId6"/>
    <p:sldId id="305" r:id="rId7"/>
    <p:sldId id="306" r:id="rId8"/>
    <p:sldId id="307" r:id="rId9"/>
    <p:sldId id="290" r:id="rId10"/>
    <p:sldId id="291" r:id="rId11"/>
    <p:sldId id="308" r:id="rId12"/>
    <p:sldId id="300" r:id="rId13"/>
    <p:sldId id="296" r:id="rId14"/>
    <p:sldId id="309" r:id="rId15"/>
    <p:sldId id="3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1"/>
    <p:restoredTop sz="96301"/>
  </p:normalViewPr>
  <p:slideViewPr>
    <p:cSldViewPr snapToGrid="0" snapToObjects="1">
      <p:cViewPr varScale="1">
        <p:scale>
          <a:sx n="149" d="100"/>
          <a:sy n="149" d="100"/>
        </p:scale>
        <p:origin x="18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de-DE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rPr lang="de-DE" sz="1600" b="1"/>
              <a:t>Ladung pro Tag nach Quelle (mC)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mC/Tag</c:v>
          </c:tx>
          <c:spPr>
            <a:solidFill>
              <a:srgbClr val="0070F3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/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LoRa TX</c:v>
              </c:pt>
              <c:pt idx="1">
                <c:v>SCD41 CO₂</c:v>
              </c:pt>
              <c:pt idx="2">
                <c:v>SPS30 Feinstaub</c:v>
              </c:pt>
              <c:pt idx="3">
                <c:v>Baseline</c:v>
              </c:pt>
            </c:strLit>
          </c:cat>
          <c:val>
            <c:numLit>
              <c:formatCode>General</c:formatCode>
              <c:ptCount val="4"/>
              <c:pt idx="0">
                <c:v>3360</c:v>
              </c:pt>
              <c:pt idx="1">
                <c:v>7392</c:v>
              </c:pt>
              <c:pt idx="2">
                <c:v>77616</c:v>
              </c:pt>
              <c:pt idx="3">
                <c:v>95040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EB0-764F-92F3-C92D776556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de-DE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‹Nr.›</a:t>
            </a:fld>
            <a:endParaRPr lang="en-US"/>
          </a:p>
        </p:txBody>
      </p:sp>
      <p:grpSp>
        <p:nvGrpSpPr>
          <p:cNvPr id="900" name="brand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905" name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6500" y="411480"/>
            <a:ext cx="3683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71717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10EB6-06F2-A73F-4F8F-673B3CF7B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5562"/>
            <a:ext cx="9144000" cy="2387600"/>
          </a:xfrm>
        </p:spPr>
        <p:txBody>
          <a:bodyPr/>
          <a:lstStyle/>
          <a:p>
            <a:pPr algn="l">
              <a:buNone/>
            </a:pPr>
            <a:r>
              <a:rPr lang="de-DE" sz="1400" b="0" spc="200" dirty="0">
                <a:solidFill>
                  <a:srgbClr val="0070F3"/>
                </a:solidFill>
                <a:latin typeface="Consolas"/>
              </a:rPr>
              <a:t>PROJEKTDOKUMENTATION</a:t>
            </a:r>
          </a:p>
          <a:p>
            <a:pPr algn="l">
              <a:buNone/>
            </a:pPr>
            <a:r>
              <a:rPr lang="de-DE" sz="5400" b="1" spc="-50" dirty="0">
                <a:solidFill>
                  <a:srgbClr val="000000"/>
                </a:solidFill>
              </a:rPr>
              <a:t>HydroNodeStation01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06D349-9351-5B36-2FB7-CC0868A01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5238"/>
            <a:ext cx="9144000" cy="1655762"/>
          </a:xfrm>
        </p:spPr>
        <p:txBody>
          <a:bodyPr/>
          <a:lstStyle/>
          <a:p>
            <a:pPr algn="l">
              <a:buNone/>
            </a:pPr>
            <a:r>
              <a:rPr lang="de-DE" sz="2200" b="0" dirty="0">
                <a:solidFill>
                  <a:srgbClr val="444444"/>
                </a:solidFill>
              </a:rPr>
              <a:t>Energieeffiziente, solar-betriebene Umweltmessstation</a:t>
            </a:r>
          </a:p>
          <a:p>
            <a:pPr algn="l">
              <a:spcBef>
                <a:spcPts val="900"/>
              </a:spcBef>
              <a:buNone/>
            </a:pPr>
            <a:r>
              <a:rPr lang="de-DE" sz="1400" b="0" dirty="0">
                <a:solidFill>
                  <a:srgbClr val="888888"/>
                </a:solidFill>
              </a:rPr>
              <a:t>Felix Knoll </a:t>
            </a:r>
            <a:r>
              <a:rPr lang="de-DE" sz="1400" dirty="0">
                <a:solidFill>
                  <a:srgbClr val="888888"/>
                </a:solidFill>
              </a:rPr>
              <a:t>- </a:t>
            </a:r>
            <a:r>
              <a:rPr lang="de-DE" sz="1400" b="0" dirty="0">
                <a:solidFill>
                  <a:srgbClr val="888888"/>
                </a:solidFill>
              </a:rPr>
              <a:t>IT6 - OTH Regensburg </a:t>
            </a:r>
            <a:r>
              <a:rPr lang="de-DE" sz="1400" dirty="0">
                <a:solidFill>
                  <a:srgbClr val="888888"/>
                </a:solidFill>
              </a:rPr>
              <a:t>-</a:t>
            </a:r>
            <a:r>
              <a:rPr lang="de-DE" sz="1400" b="0" dirty="0">
                <a:solidFill>
                  <a:srgbClr val="888888"/>
                </a:solidFill>
              </a:rPr>
              <a:t> 24. Juni 2026</a:t>
            </a:r>
          </a:p>
        </p:txBody>
      </p:sp>
    </p:spTree>
    <p:extLst>
      <p:ext uri="{BB962C8B-B14F-4D97-AF65-F5344CB8AC3E}">
        <p14:creationId xmlns:p14="http://schemas.microsoft.com/office/powerpoint/2010/main" val="1517817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5488DD-F2CD-3B1E-5F05-48821428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01 · EINLEITUNG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Projektbeschreibung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A7360C-8998-9A74-AF42-9783CEAD3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8825"/>
            <a:ext cx="10515600" cy="4351338"/>
          </a:xfrm>
        </p:spPr>
        <p:txBody>
          <a:bodyPr/>
          <a:lstStyle/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Solar-betrieben &amp; fast autonom -&gt; kein externer Infrastrukturbedarf, Monate ohne Wartung (</a:t>
            </a:r>
            <a:r>
              <a:rPr lang="de-DE" sz="1800" dirty="0" err="1">
                <a:solidFill>
                  <a:srgbClr val="171717"/>
                </a:solidFill>
              </a:rPr>
              <a:t>vorraussetzung</a:t>
            </a:r>
            <a:r>
              <a:rPr lang="de-DE" sz="1800" dirty="0">
                <a:solidFill>
                  <a:srgbClr val="171717"/>
                </a:solidFill>
              </a:rPr>
              <a:t> TTN / Helium LoraWAN Netzwerk)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Messdaten via LoRaWAN -&gt; Helium -&gt; </a:t>
            </a:r>
            <a:r>
              <a:rPr lang="de-DE" sz="1800" dirty="0" err="1">
                <a:solidFill>
                  <a:srgbClr val="171717"/>
                </a:solidFill>
              </a:rPr>
              <a:t>HydroNode</a:t>
            </a:r>
            <a:r>
              <a:rPr lang="de-DE" sz="1800" dirty="0">
                <a:solidFill>
                  <a:srgbClr val="171717"/>
                </a:solidFill>
              </a:rPr>
              <a:t>-Backend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Kernziele: Langzeitautonomie, Reproduzierbarkeit zu niedrigen Kosten, Open Source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6 Sensoren am I2C-Bus: SHT45 (Temp/Feuchte), BMP390 (Druck), LTR390 (UV), SCD41 (CO₂), SPS30 (Feinstaub), MAX17048 (Akku)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Einsatz: Landwirtschaft, Langzeitstudien, Luftqualitätsnetzwerke, Frühwarnsysteme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Reproduktionskosten: &lt; 30 € Minimalvariante, 120-150 € vollbestückt</a:t>
            </a:r>
          </a:p>
        </p:txBody>
      </p:sp>
    </p:spTree>
    <p:extLst>
      <p:ext uri="{BB962C8B-B14F-4D97-AF65-F5344CB8AC3E}">
        <p14:creationId xmlns:p14="http://schemas.microsoft.com/office/powerpoint/2010/main" val="224142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C7789E-67B9-FEFC-670C-470894456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02 · HARDWARE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Prototyp &amp; Custom PCB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C6CCF-E03E-4B2A-9E6B-983546F26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8825"/>
            <a:ext cx="5181600" cy="4351338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PROTOTYP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Seeed Studio Wio-E5 Mini (STM32WL55JC)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Sensoren als Breakout-Boards auf Steckbrett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/>
              <a:t>Test aller Sensoren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Energieverbrauchtest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Gemeinsamer I2C-Bus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Vollständige Software-Entwicklung vor PCB-Design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8F0C9F-9119-5734-0992-ECE33C472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28825"/>
            <a:ext cx="5181600" cy="4351338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CUSTOM PCB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STM32WLE5CCU6: </a:t>
            </a:r>
            <a:br>
              <a:rPr lang="de-DE" sz="1600" dirty="0">
                <a:solidFill>
                  <a:srgbClr val="171717"/>
                </a:solidFill>
              </a:rPr>
            </a:br>
            <a:r>
              <a:rPr lang="de-DE" sz="1600" dirty="0">
                <a:solidFill>
                  <a:srgbClr val="171717"/>
                </a:solidFill>
              </a:rPr>
              <a:t>ARM Cortex-M4 48 MHz + Sub-GHz-LoRa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Selbst entworfenes 4-Lagen-PCB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RF: Balun BALFHB-WL-02D3 · 50 Ω @ 868 MHz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Energie: 2x TPS63900 Buck-Boost (&gt;95 %) </a:t>
            </a:r>
            <a:br>
              <a:rPr lang="de-DE" sz="1600" dirty="0">
                <a:solidFill>
                  <a:srgbClr val="171717"/>
                </a:solidFill>
              </a:rPr>
            </a:br>
            <a:r>
              <a:rPr lang="de-DE" sz="1600" dirty="0">
                <a:solidFill>
                  <a:srgbClr val="171717"/>
                </a:solidFill>
              </a:rPr>
              <a:t>3,3 V + 5 V, Solar-MPPT BQ25185</a:t>
            </a:r>
          </a:p>
        </p:txBody>
      </p:sp>
      <p:pic>
        <p:nvPicPr>
          <p:cNvPr id="5" name="Grafik 4" descr="Wio-E5 LoRaWAN Mini Dev Board with STM32WLE5JC 113990939 Antratek Electronics">
            <a:extLst>
              <a:ext uri="{FF2B5EF4-FFF2-40B4-BE49-F238E27FC236}">
                <a16:creationId xmlns:a16="http://schemas.microsoft.com/office/drawing/2014/main" id="{664239A1-4246-6042-7D23-2A573F8D5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45" y="4360147"/>
            <a:ext cx="2497853" cy="2497853"/>
          </a:xfrm>
          <a:prstGeom prst="rect">
            <a:avLst/>
          </a:prstGeom>
        </p:spPr>
      </p:pic>
      <p:pic>
        <p:nvPicPr>
          <p:cNvPr id="7" name="Grafik 6" descr="pcb_routing.png">
            <a:extLst>
              <a:ext uri="{FF2B5EF4-FFF2-40B4-BE49-F238E27FC236}">
                <a16:creationId xmlns:a16="http://schemas.microsoft.com/office/drawing/2014/main" id="{4AFFEA79-D6A6-4098-EFC1-67D6A8764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42" t="1879" r="5474" b="10274"/>
          <a:stretch>
            <a:fillRect/>
          </a:stretch>
        </p:blipFill>
        <p:spPr>
          <a:xfrm>
            <a:off x="6964345" y="4519449"/>
            <a:ext cx="3084844" cy="217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06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79427-2C38-22FC-47CF-C2074F7BA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03 · GEHÄUSE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Stevenson Screen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550D61-A6F7-9908-7937-36050A22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8825"/>
            <a:ext cx="6674708" cy="4351338"/>
          </a:xfrm>
        </p:spPr>
        <p:txBody>
          <a:bodyPr/>
          <a:lstStyle/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Selbst entworfenes Lamellen-Gehäuse in Fusion 360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Mehrlagige Konstruktion, Schutz vor Direktsonne &amp; Regen bei freier Luftzirkulation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Graues ASA, UV-beständig &amp; witterungsfest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Mehrere 3D-Druckdurchläufe für Passgenauigkeit nötig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LTR390-UV-Sensor hinter 2 mm Polystyrol-Fenster verbaut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Empirischer Korrekturfaktor 17/13 -&gt; 1,31</a:t>
            </a:r>
          </a:p>
        </p:txBody>
      </p:sp>
      <p:pic>
        <p:nvPicPr>
          <p:cNvPr id="4" name="Grafik 3" descr="stevenson_render.png">
            <a:extLst>
              <a:ext uri="{FF2B5EF4-FFF2-40B4-BE49-F238E27FC236}">
                <a16:creationId xmlns:a16="http://schemas.microsoft.com/office/drawing/2014/main" id="{149B8A2C-993E-0A18-C7C0-F621D07F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883" y="1893888"/>
            <a:ext cx="3820680" cy="38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6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C757D1-BD14-3F18-C038-49DCDACD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04 · FIRMWARE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Software &amp; 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5F0B4F-A582-C628-BF19-43EA4F3C9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8825"/>
            <a:ext cx="5181600" cy="4351338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BUILD &amp; INFRASTRUKTUR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CMake + ARM GCC, zweigleisig: </a:t>
            </a:r>
            <a:br>
              <a:rPr lang="de-DE" sz="1600" dirty="0">
                <a:solidFill>
                  <a:srgbClr val="171717"/>
                </a:solidFill>
              </a:rPr>
            </a:br>
            <a:r>
              <a:rPr lang="de-DE" sz="1600" dirty="0" err="1">
                <a:solidFill>
                  <a:srgbClr val="171717"/>
                </a:solidFill>
              </a:rPr>
              <a:t>Debug</a:t>
            </a:r>
            <a:r>
              <a:rPr lang="de-DE" sz="1600" dirty="0">
                <a:solidFill>
                  <a:srgbClr val="171717"/>
                </a:solidFill>
              </a:rPr>
              <a:t> (Wio-E5) &amp; Release (Custom PCB)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Gemeinsame Applikationslogik: nur Pin-Mapping &amp; MCU unterscheiden sich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GitHub Actions prüft bei jedem Push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Flashen via ST-Link V2, </a:t>
            </a:r>
            <a:r>
              <a:rPr lang="de-DE" sz="1600" dirty="0" err="1">
                <a:solidFill>
                  <a:srgbClr val="171717"/>
                </a:solidFill>
              </a:rPr>
              <a:t>Clion</a:t>
            </a:r>
            <a:r>
              <a:rPr lang="de-DE" sz="1600" dirty="0"/>
              <a:t>, </a:t>
            </a:r>
            <a:r>
              <a:rPr lang="de-DE" sz="1600" dirty="0" err="1">
                <a:solidFill>
                  <a:srgbClr val="171717"/>
                </a:solidFill>
              </a:rPr>
              <a:t>OpenOCD</a:t>
            </a:r>
            <a:endParaRPr lang="de-DE" sz="1600" dirty="0">
              <a:solidFill>
                <a:srgbClr val="171717"/>
              </a:solidFill>
            </a:endParaRP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Remote-Entwicklung: </a:t>
            </a:r>
            <a:r>
              <a:rPr lang="de-DE" sz="1600" dirty="0" err="1">
                <a:solidFill>
                  <a:srgbClr val="171717"/>
                </a:solidFill>
              </a:rPr>
              <a:t>OpenOCD</a:t>
            </a:r>
            <a:r>
              <a:rPr lang="de-DE" sz="1600" dirty="0">
                <a:solidFill>
                  <a:srgbClr val="171717"/>
                </a:solidFill>
              </a:rPr>
              <a:t>-Dienst, SW-UART PA6 @ 115200 Baud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8DCC7FC-FF69-55E6-C4E1-68B063C59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28825"/>
            <a:ext cx="5181600" cy="4351338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ARCHITEKTUR &amp; LOW-POWER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STOP2-Schlaf nach jedem Engine-Lauf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60-Min-Superzyklus: </a:t>
            </a:r>
            <a:r>
              <a:rPr lang="de-DE" sz="1600" dirty="0" err="1">
                <a:solidFill>
                  <a:srgbClr val="171717"/>
                </a:solidFill>
              </a:rPr>
              <a:t>Tx</a:t>
            </a:r>
            <a:r>
              <a:rPr lang="de-DE" sz="1600" dirty="0">
                <a:solidFill>
                  <a:srgbClr val="171717"/>
                </a:solidFill>
              </a:rPr>
              <a:t>-Zähler 1-20 </a:t>
            </a:r>
            <a:br>
              <a:rPr lang="de-DE" sz="1600" dirty="0">
                <a:solidFill>
                  <a:srgbClr val="171717"/>
                </a:solidFill>
              </a:rPr>
            </a:br>
            <a:r>
              <a:rPr lang="de-DE" sz="1600" dirty="0">
                <a:solidFill>
                  <a:srgbClr val="171717"/>
                </a:solidFill>
              </a:rPr>
              <a:t>(Basis-Intervall 3 min)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Temp/Feuchte/Druck/UV/Akku jeder Uplink, </a:t>
            </a:r>
            <a:br>
              <a:rPr lang="de-DE" sz="1600" dirty="0">
                <a:solidFill>
                  <a:srgbClr val="171717"/>
                </a:solidFill>
              </a:rPr>
            </a:br>
            <a:r>
              <a:rPr lang="de-DE" sz="1600" dirty="0">
                <a:solidFill>
                  <a:srgbClr val="171717"/>
                </a:solidFill>
              </a:rPr>
              <a:t>CO</a:t>
            </a:r>
            <a:r>
              <a:rPr lang="de-DE" sz="1600" baseline="-25000" dirty="0">
                <a:solidFill>
                  <a:srgbClr val="171717"/>
                </a:solidFill>
              </a:rPr>
              <a:t>2</a:t>
            </a:r>
            <a:r>
              <a:rPr lang="de-DE" sz="1600" dirty="0">
                <a:solidFill>
                  <a:srgbClr val="171717"/>
                </a:solidFill>
              </a:rPr>
              <a:t> 15 min, Feinstaub 30 min</a:t>
            </a:r>
          </a:p>
          <a:p>
            <a:pPr marL="285750" indent="-285750" algn="l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Sensor-Treiber tolerant, autom</a:t>
            </a:r>
            <a:r>
              <a:rPr lang="de-DE" sz="1600" dirty="0"/>
              <a:t>atisch </a:t>
            </a:r>
            <a:r>
              <a:rPr lang="de-DE" sz="1600" dirty="0">
                <a:solidFill>
                  <a:srgbClr val="171717"/>
                </a:solidFill>
              </a:rPr>
              <a:t>I2C-Recovery, SPS30-Fan-Cleaning alle 120 h</a:t>
            </a:r>
          </a:p>
        </p:txBody>
      </p:sp>
    </p:spTree>
    <p:extLst>
      <p:ext uri="{BB962C8B-B14F-4D97-AF65-F5344CB8AC3E}">
        <p14:creationId xmlns:p14="http://schemas.microsoft.com/office/powerpoint/2010/main" val="1360885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14DF0-5C33-8EA4-7515-F2BB25E6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05 · INBETRIEBNAHME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In neun Schritten zur Station</a:t>
            </a:r>
          </a:p>
        </p:txBody>
      </p:sp>
      <p:sp>
        <p:nvSpPr>
          <p:cNvPr id="20" name="card0"/>
          <p:cNvSpPr/>
          <p:nvPr/>
        </p:nvSpPr>
        <p:spPr>
          <a:xfrm>
            <a:off x="838200" y="21082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01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Hardware beschaffen</a:t>
            </a:r>
          </a:p>
        </p:txBody>
      </p:sp>
      <p:sp>
        <p:nvSpPr>
          <p:cNvPr id="21" name="card1"/>
          <p:cNvSpPr/>
          <p:nvPr/>
        </p:nvSpPr>
        <p:spPr>
          <a:xfrm>
            <a:off x="4419600" y="21082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02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Build-Tools installieren</a:t>
            </a:r>
          </a:p>
        </p:txBody>
      </p:sp>
      <p:sp>
        <p:nvSpPr>
          <p:cNvPr id="22" name="card2"/>
          <p:cNvSpPr/>
          <p:nvPr/>
        </p:nvSpPr>
        <p:spPr>
          <a:xfrm>
            <a:off x="8001000" y="21082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03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Repository klonen &amp; bauen</a:t>
            </a:r>
          </a:p>
        </p:txBody>
      </p:sp>
      <p:sp>
        <p:nvSpPr>
          <p:cNvPr id="23" name="card3"/>
          <p:cNvSpPr/>
          <p:nvPr/>
        </p:nvSpPr>
        <p:spPr>
          <a:xfrm>
            <a:off x="838200" y="36703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04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Flashen &amp; Device-EUI auslesen</a:t>
            </a:r>
          </a:p>
        </p:txBody>
      </p:sp>
      <p:sp>
        <p:nvSpPr>
          <p:cNvPr id="24" name="card4"/>
          <p:cNvSpPr/>
          <p:nvPr/>
        </p:nvSpPr>
        <p:spPr>
          <a:xfrm>
            <a:off x="4419600" y="36703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05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Gerät registrieren - OTAA</a:t>
            </a:r>
          </a:p>
        </p:txBody>
      </p:sp>
      <p:sp>
        <p:nvSpPr>
          <p:cNvPr id="25" name="card5"/>
          <p:cNvSpPr/>
          <p:nvPr/>
        </p:nvSpPr>
        <p:spPr>
          <a:xfrm>
            <a:off x="8001000" y="36703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06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LoRaWAN-Keys eintragen</a:t>
            </a:r>
          </a:p>
        </p:txBody>
      </p:sp>
      <p:sp>
        <p:nvSpPr>
          <p:cNvPr id="26" name="card6"/>
          <p:cNvSpPr/>
          <p:nvPr/>
        </p:nvSpPr>
        <p:spPr>
          <a:xfrm>
            <a:off x="838200" y="52324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07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 err="1">
                <a:solidFill>
                  <a:srgbClr val="000000"/>
                </a:solidFill>
              </a:rPr>
              <a:t>Flashen</a:t>
            </a:r>
            <a:endParaRPr lang="de-DE" sz="1500" b="1" dirty="0">
              <a:solidFill>
                <a:srgbClr val="000000"/>
              </a:solidFill>
            </a:endParaRPr>
          </a:p>
        </p:txBody>
      </p:sp>
      <p:sp>
        <p:nvSpPr>
          <p:cNvPr id="27" name="card7"/>
          <p:cNvSpPr/>
          <p:nvPr/>
        </p:nvSpPr>
        <p:spPr>
          <a:xfrm>
            <a:off x="4419600" y="52324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08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App-Binding &amp; Webhook-URL</a:t>
            </a:r>
          </a:p>
        </p:txBody>
      </p:sp>
      <p:sp>
        <p:nvSpPr>
          <p:cNvPr id="28" name="card8"/>
          <p:cNvSpPr/>
          <p:nvPr/>
        </p:nvSpPr>
        <p:spPr>
          <a:xfrm>
            <a:off x="8001000" y="5232400"/>
            <a:ext cx="3352800" cy="1358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37160" tIns="91440" rIns="91440" bIns="45720" anchor="t"/>
          <a:lstStyle/>
          <a:p>
            <a:pPr>
              <a:buNone/>
            </a:pPr>
            <a:r>
              <a:rPr lang="de-DE" sz="1800" b="1" dirty="0">
                <a:solidFill>
                  <a:srgbClr val="0070F3"/>
                </a:solidFill>
                <a:latin typeface="Consolas"/>
              </a:rPr>
              <a:t>09</a:t>
            </a:r>
          </a:p>
          <a:p>
            <a:pPr>
              <a:spcBef>
                <a:spcPts val="500"/>
              </a:spcBef>
              <a:buNone/>
            </a:pPr>
            <a:r>
              <a:rPr lang="de-DE" sz="1500" b="1" dirty="0">
                <a:solidFill>
                  <a:srgbClr val="000000"/>
                </a:solidFill>
              </a:rPr>
              <a:t>Betrieb verifizieren und </a:t>
            </a:r>
            <a:br>
              <a:rPr lang="de-DE" sz="1500" b="1" dirty="0">
                <a:solidFill>
                  <a:srgbClr val="000000"/>
                </a:solidFill>
              </a:rPr>
            </a:br>
            <a:r>
              <a:rPr lang="de-DE" sz="1500" b="1" dirty="0">
                <a:solidFill>
                  <a:srgbClr val="000000"/>
                </a:solidFill>
              </a:rPr>
              <a:t>Daten analysieren</a:t>
            </a:r>
          </a:p>
        </p:txBody>
      </p:sp>
    </p:spTree>
    <p:extLst>
      <p:ext uri="{BB962C8B-B14F-4D97-AF65-F5344CB8AC3E}">
        <p14:creationId xmlns:p14="http://schemas.microsoft.com/office/powerpoint/2010/main" val="1007839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BE6BF-AFEB-26A9-F6F4-43E99592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06 · ENERGIEEFFIZIENZ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Tagesverbrauch &amp; Autonomie</a:t>
            </a:r>
          </a:p>
        </p:txBody>
      </p:sp>
      <p:sp>
        <p:nvSpPr>
          <p:cNvPr id="30" name="stats"/>
          <p:cNvSpPr/>
          <p:nvPr/>
        </p:nvSpPr>
        <p:spPr>
          <a:xfrm>
            <a:off x="838200" y="2171700"/>
            <a:ext cx="4191000" cy="4381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de-DE" sz="2800" b="1" dirty="0">
                <a:solidFill>
                  <a:srgbClr val="000000"/>
                </a:solidFill>
              </a:rPr>
              <a:t>50,9 mAh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888888"/>
                </a:solidFill>
              </a:rPr>
              <a:t>Gesamtladung pro Tag (Schätzung)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2800" b="1" dirty="0">
                <a:solidFill>
                  <a:srgbClr val="000000"/>
                </a:solidFill>
              </a:rPr>
              <a:t>2,12 mA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888888"/>
                </a:solidFill>
              </a:rPr>
              <a:t>Mittlerer Systemstrom (Schätzung)</a:t>
            </a:r>
          </a:p>
          <a:p>
            <a:pPr algn="l">
              <a:spcBef>
                <a:spcPts val="1400"/>
              </a:spcBef>
              <a:buNone/>
            </a:pPr>
            <a:r>
              <a:rPr lang="de-DE" sz="2800" b="1" dirty="0">
                <a:solidFill>
                  <a:srgbClr val="000000"/>
                </a:solidFill>
              </a:rPr>
              <a:t>~24 Tage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888888"/>
                </a:solidFill>
              </a:rPr>
              <a:t>Autonomie ohne Solar bei 1200 </a:t>
            </a:r>
            <a:r>
              <a:rPr lang="de-DE" sz="1400" dirty="0" err="1">
                <a:solidFill>
                  <a:srgbClr val="888888"/>
                </a:solidFill>
              </a:rPr>
              <a:t>mAh</a:t>
            </a:r>
            <a:r>
              <a:rPr lang="de-DE" sz="1400" dirty="0">
                <a:solidFill>
                  <a:srgbClr val="888888"/>
                </a:solidFill>
              </a:rPr>
              <a:t> </a:t>
            </a:r>
            <a:r>
              <a:rPr lang="de-DE" sz="1400" dirty="0" err="1">
                <a:solidFill>
                  <a:srgbClr val="888888"/>
                </a:solidFill>
              </a:rPr>
              <a:t>LiPo</a:t>
            </a:r>
            <a:endParaRPr lang="de-DE" sz="1400" dirty="0">
              <a:solidFill>
                <a:srgbClr val="888888"/>
              </a:solidFill>
            </a:endParaRPr>
          </a:p>
          <a:p>
            <a:pPr algn="l">
              <a:spcBef>
                <a:spcPts val="1400"/>
              </a:spcBef>
              <a:buNone/>
            </a:pPr>
            <a:r>
              <a:rPr lang="de-DE" sz="2800" b="1" dirty="0">
                <a:solidFill>
                  <a:srgbClr val="000000"/>
                </a:solidFill>
              </a:rPr>
              <a:t>~1,1 mA</a:t>
            </a:r>
          </a:p>
          <a:p>
            <a:pPr algn="l">
              <a:spcBef>
                <a:spcPts val="200"/>
              </a:spcBef>
              <a:buNone/>
            </a:pPr>
            <a:r>
              <a:rPr lang="de-DE" sz="1400" dirty="0">
                <a:solidFill>
                  <a:srgbClr val="888888"/>
                </a:solidFill>
              </a:rPr>
              <a:t>Gemessene STOP2-Baseline</a:t>
            </a:r>
          </a:p>
        </p:txBody>
      </p:sp>
      <p:graphicFrame>
        <p:nvGraphicFramePr>
          <p:cNvPr id="101" name="EnergyChart"/>
          <p:cNvGraphicFramePr/>
          <p:nvPr>
            <p:extLst>
              <p:ext uri="{D42A27DB-BD31-4B8C-83A1-F6EECF244321}">
                <p14:modId xmlns:p14="http://schemas.microsoft.com/office/powerpoint/2010/main" val="1147914656"/>
              </p:ext>
            </p:extLst>
          </p:nvPr>
        </p:nvGraphicFramePr>
        <p:xfrm>
          <a:off x="5270500" y="2108200"/>
          <a:ext cx="60706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89691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F90F55-E3CE-F12B-B7E5-578D52EA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07 · TESTS &amp; VALIDIERUNG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Prototyp &amp; Custom PCB im Feld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40F4B8-9065-C007-B3A4-85CD13D9D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8825"/>
            <a:ext cx="5181600" cy="4351338"/>
          </a:xfrm>
        </p:spPr>
        <p:txBody>
          <a:bodyPr/>
          <a:lstStyle/>
          <a:p>
            <a:pPr algn="l"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PROTOTYP (WIO-E5)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Alle 6 Sensoren auf Plausibilität &amp; I2C verifiziert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LoRaWAN-OTAA-Join &amp; Uplinks (fPort 2/3/4) stabil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Feldtest: &gt;10 km Reichweite nachgewiesen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NVM-Persistenz &amp; I2C-Bus-Recovery bestätigt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Downlinks 0x11 / 0xFF funktional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7D0954-A5E2-270C-DC2B-356D215E1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28825"/>
            <a:ext cx="5181600" cy="4351338"/>
          </a:xfrm>
        </p:spPr>
        <p:txBody>
          <a:bodyPr/>
          <a:lstStyle/>
          <a:p>
            <a:pPr algn="l"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CUSTOM PCB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TPS63900-Fehler identifiziert &amp; per Workaround behoben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Alle 5 Kernsensoren verifiziert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Uplinks via HTTP-Webhook ins HydroNode-Backend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PPK2-Strommessung durchgeführt</a:t>
            </a:r>
          </a:p>
          <a:p>
            <a:pPr marL="342900" indent="-342900" algn="l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600" dirty="0">
                <a:solidFill>
                  <a:srgbClr val="171717"/>
                </a:solidFill>
              </a:rPr>
              <a:t>Im Außen-Feldtest seit Ende Mai 2026</a:t>
            </a:r>
          </a:p>
          <a:p>
            <a:pPr algn="l">
              <a:spcBef>
                <a:spcPts val="1200"/>
              </a:spcBef>
              <a:buNone/>
            </a:pPr>
            <a:endParaRPr lang="de-DE" sz="1600" dirty="0">
              <a:solidFill>
                <a:srgbClr val="17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375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B0C85-2CFD-0CFB-E73B-05ED934F6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08 · HYDRONODENETZWERK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Systemarchitektur</a:t>
            </a:r>
          </a:p>
        </p:txBody>
      </p:sp>
      <p:sp>
        <p:nvSpPr>
          <p:cNvPr id="20" name="band0"/>
          <p:cNvSpPr/>
          <p:nvPr/>
        </p:nvSpPr>
        <p:spPr>
          <a:xfrm>
            <a:off x="1524000" y="2133600"/>
            <a:ext cx="9144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82880" tIns="45720" rIns="182880" bIns="45720" anchor="ctr"/>
          <a:lstStyle/>
          <a:p>
            <a:pPr algn="l">
              <a:buNone/>
            </a:pPr>
            <a:r>
              <a:rPr lang="de-DE" sz="1200" b="1" spc="150" dirty="0">
                <a:solidFill>
                  <a:srgbClr val="0070F3"/>
                </a:solidFill>
                <a:latin typeface="Consolas"/>
              </a:rPr>
              <a:t>SENSORSCHICHT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400" b="1" dirty="0">
                <a:solidFill>
                  <a:srgbClr val="171717"/>
                </a:solidFill>
              </a:rPr>
              <a:t>HydroNodeStation01 (LoRaWAN)  ·  HTTPS-Stationen (Arduino / ESP32)</a:t>
            </a:r>
          </a:p>
        </p:txBody>
      </p:sp>
      <p:sp>
        <p:nvSpPr>
          <p:cNvPr id="21" name="arr0"/>
          <p:cNvSpPr/>
          <p:nvPr/>
        </p:nvSpPr>
        <p:spPr>
          <a:xfrm>
            <a:off x="5930900" y="3009900"/>
            <a:ext cx="330200" cy="254000"/>
          </a:xfrm>
          <a:prstGeom prst="downArrow">
            <a:avLst/>
          </a:prstGeom>
          <a:solidFill>
            <a:srgbClr val="0070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and1"/>
          <p:cNvSpPr/>
          <p:nvPr/>
        </p:nvSpPr>
        <p:spPr>
          <a:xfrm>
            <a:off x="1524000" y="3276600"/>
            <a:ext cx="9144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82880" tIns="45720" rIns="182880" bIns="45720" anchor="ctr"/>
          <a:lstStyle/>
          <a:p>
            <a:pPr algn="l">
              <a:buNone/>
            </a:pPr>
            <a:r>
              <a:rPr lang="de-DE" sz="1200" b="1" spc="150" dirty="0">
                <a:solidFill>
                  <a:srgbClr val="0070F3"/>
                </a:solidFill>
                <a:latin typeface="Consolas"/>
              </a:rPr>
              <a:t>ÜBERTRAGUNGSSCHICHT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400" b="1" dirty="0">
                <a:solidFill>
                  <a:srgbClr val="171717"/>
                </a:solidFill>
              </a:rPr>
              <a:t>LoRaWAN -&gt; Netzwerk-Server (Helium · TTN) -&gt; Webhook   |   HTTPS · TLS 1.2+ · HMAC-SHA256</a:t>
            </a:r>
          </a:p>
        </p:txBody>
      </p:sp>
      <p:sp>
        <p:nvSpPr>
          <p:cNvPr id="23" name="arr1"/>
          <p:cNvSpPr/>
          <p:nvPr/>
        </p:nvSpPr>
        <p:spPr>
          <a:xfrm>
            <a:off x="5930900" y="4152900"/>
            <a:ext cx="330200" cy="254000"/>
          </a:xfrm>
          <a:prstGeom prst="downArrow">
            <a:avLst/>
          </a:prstGeom>
          <a:solidFill>
            <a:srgbClr val="0070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band2"/>
          <p:cNvSpPr/>
          <p:nvPr/>
        </p:nvSpPr>
        <p:spPr>
          <a:xfrm>
            <a:off x="1524000" y="4419600"/>
            <a:ext cx="9144000" cy="889000"/>
          </a:xfrm>
          <a:prstGeom prst="roundRect">
            <a:avLst>
              <a:gd name="adj" fmla="val 8000"/>
            </a:avLst>
          </a:prstGeom>
          <a:solidFill>
            <a:srgbClr val="F5FAFF"/>
          </a:solidFill>
          <a:ln w="9525">
            <a:solidFill>
              <a:srgbClr val="0070F3"/>
            </a:solidFill>
          </a:ln>
        </p:spPr>
        <p:txBody>
          <a:bodyPr wrap="square" lIns="182880" tIns="45720" rIns="182880" bIns="45720" anchor="ctr"/>
          <a:lstStyle/>
          <a:p>
            <a:pPr algn="l">
              <a:buNone/>
            </a:pPr>
            <a:r>
              <a:rPr lang="de-DE" sz="1200" b="1" spc="150" dirty="0">
                <a:solidFill>
                  <a:srgbClr val="0070F3"/>
                </a:solidFill>
                <a:latin typeface="Consolas"/>
              </a:rPr>
              <a:t>BACKEND-SCHICHT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400" b="1" dirty="0">
                <a:solidFill>
                  <a:srgbClr val="171717"/>
                </a:solidFill>
              </a:rPr>
              <a:t>Quarkus 3 · Kafka · PostgreSQL · Caches (TTL 90 min)  +  KI-Anomalieerkennung (Amazon Bedrock Nova Micro, alle 15 min)</a:t>
            </a:r>
          </a:p>
        </p:txBody>
      </p:sp>
      <p:sp>
        <p:nvSpPr>
          <p:cNvPr id="25" name="arr2"/>
          <p:cNvSpPr/>
          <p:nvPr/>
        </p:nvSpPr>
        <p:spPr>
          <a:xfrm>
            <a:off x="5930900" y="5295900"/>
            <a:ext cx="330200" cy="254000"/>
          </a:xfrm>
          <a:prstGeom prst="downArrow">
            <a:avLst/>
          </a:prstGeom>
          <a:solidFill>
            <a:srgbClr val="0070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band3"/>
          <p:cNvSpPr/>
          <p:nvPr/>
        </p:nvSpPr>
        <p:spPr>
          <a:xfrm>
            <a:off x="1524000" y="5562600"/>
            <a:ext cx="9144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82880" tIns="45720" rIns="182880" bIns="45720" anchor="ctr"/>
          <a:lstStyle/>
          <a:p>
            <a:pPr algn="l">
              <a:buNone/>
            </a:pPr>
            <a:r>
              <a:rPr lang="de-DE" sz="1200" b="1" spc="150" dirty="0">
                <a:solidFill>
                  <a:srgbClr val="0070F3"/>
                </a:solidFill>
                <a:latin typeface="Consolas"/>
              </a:rPr>
              <a:t>APPLIKATIONSSCHICHT</a:t>
            </a:r>
          </a:p>
          <a:p>
            <a:pPr algn="l">
              <a:spcBef>
                <a:spcPts val="300"/>
              </a:spcBef>
              <a:buNone/>
            </a:pPr>
            <a:r>
              <a:rPr lang="de-DE" sz="1400" b="1" dirty="0">
                <a:solidFill>
                  <a:srgbClr val="171717"/>
                </a:solidFill>
              </a:rPr>
              <a:t>iOS-App  ·  Web-Dashboard  ·  HydroNode REST-API</a:t>
            </a:r>
          </a:p>
        </p:txBody>
      </p:sp>
    </p:spTree>
    <p:extLst>
      <p:ext uri="{BB962C8B-B14F-4D97-AF65-F5344CB8AC3E}">
        <p14:creationId xmlns:p14="http://schemas.microsoft.com/office/powerpoint/2010/main" val="293187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4BE12-42A3-79A4-43F7-288EC622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09 · ABSCHLUSS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Open Source, Aufwand &amp; KI</a:t>
            </a:r>
          </a:p>
        </p:txBody>
      </p:sp>
      <p:sp>
        <p:nvSpPr>
          <p:cNvPr id="30" name="cardLeft"/>
          <p:cNvSpPr/>
          <p:nvPr/>
        </p:nvSpPr>
        <p:spPr>
          <a:xfrm>
            <a:off x="838200" y="2108200"/>
            <a:ext cx="50800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60020" tIns="137160" rIns="137160" bIns="91440" anchor="t"/>
          <a:lstStyle/>
          <a:p>
            <a:pPr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STUNDENAUFWAND</a:t>
            </a:r>
          </a:p>
          <a:p>
            <a:pPr>
              <a:spcBef>
                <a:spcPts val="1200"/>
              </a:spcBef>
              <a:buNone/>
            </a:pPr>
            <a:r>
              <a:rPr lang="de-DE" sz="5400" b="1" dirty="0">
                <a:solidFill>
                  <a:srgbClr val="000000"/>
                </a:solidFill>
              </a:rPr>
              <a:t>170 h</a:t>
            </a:r>
            <a:r>
              <a:rPr lang="de-DE" sz="1800" b="1" dirty="0">
                <a:solidFill>
                  <a:srgbClr val="888888"/>
                </a:solidFill>
              </a:rPr>
              <a:t>  tatsächlich</a:t>
            </a:r>
          </a:p>
          <a:p>
            <a:pPr>
              <a:spcBef>
                <a:spcPts val="200"/>
              </a:spcBef>
              <a:buNone/>
            </a:pPr>
            <a:r>
              <a:rPr lang="de-DE" sz="1500" dirty="0">
                <a:solidFill>
                  <a:srgbClr val="888888"/>
                </a:solidFill>
              </a:rPr>
              <a:t>160 h geplant · +10 h Gesamtabweichung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20 Features umgesetzt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PCB-Design: +41 h Mehraufwand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3D-Gehäuse: +12 h (ungeplant)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KI-Evaluation: −14 h unter Plan</a:t>
            </a:r>
          </a:p>
        </p:txBody>
      </p:sp>
      <p:sp>
        <p:nvSpPr>
          <p:cNvPr id="31" name="cardRT"/>
          <p:cNvSpPr/>
          <p:nvPr/>
        </p:nvSpPr>
        <p:spPr>
          <a:xfrm>
            <a:off x="6172200" y="2108200"/>
            <a:ext cx="5181600" cy="209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60020" tIns="137160" rIns="137160" bIns="91440" anchor="t"/>
          <a:lstStyle/>
          <a:p>
            <a:pPr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OPEN SOURCE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400" dirty="0">
                <a:solidFill>
                  <a:srgbClr val="171717"/>
                </a:solidFill>
              </a:rPr>
              <a:t>Hardware: CC BY-NC-SA 4.0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400" dirty="0" err="1">
                <a:solidFill>
                  <a:srgbClr val="171717"/>
                </a:solidFill>
              </a:rPr>
              <a:t>github.com</a:t>
            </a:r>
            <a:r>
              <a:rPr lang="de-DE" sz="1400" dirty="0">
                <a:solidFill>
                  <a:srgbClr val="171717"/>
                </a:solidFill>
              </a:rPr>
              <a:t>/TexhFexLabs/hydroNodeStation01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400" dirty="0">
                <a:solidFill>
                  <a:srgbClr val="171717"/>
                </a:solidFill>
              </a:rPr>
              <a:t>OSHWLab Start 2026 Contest angemeldet</a:t>
            </a:r>
          </a:p>
        </p:txBody>
      </p:sp>
      <p:sp>
        <p:nvSpPr>
          <p:cNvPr id="32" name="cardRB"/>
          <p:cNvSpPr/>
          <p:nvPr/>
        </p:nvSpPr>
        <p:spPr>
          <a:xfrm>
            <a:off x="6172200" y="4457700"/>
            <a:ext cx="5181600" cy="2095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</p:spPr>
        <p:txBody>
          <a:bodyPr wrap="square" lIns="160020" tIns="137160" rIns="137160" bIns="91440" anchor="t"/>
          <a:lstStyle/>
          <a:p>
            <a:pPr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KI-VERWENDUNG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400" dirty="0">
                <a:solidFill>
                  <a:srgbClr val="171717"/>
                </a:solidFill>
              </a:rPr>
              <a:t>Claude Code (Anthropic): Doku, Analyse, Debugging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400" dirty="0">
                <a:solidFill>
                  <a:srgbClr val="171717"/>
                </a:solidFill>
              </a:rPr>
              <a:t>Gemini CLI (Google) vergleichend getestet</a:t>
            </a:r>
          </a:p>
          <a:p>
            <a:pPr marL="228600" indent="-228600">
              <a:spcBef>
                <a:spcPts val="5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400" dirty="0">
                <a:solidFill>
                  <a:srgbClr val="171717"/>
                </a:solidFill>
              </a:rPr>
              <a:t>Token-Verbrauch überwachen, Kontexte bündeln</a:t>
            </a:r>
          </a:p>
        </p:txBody>
      </p:sp>
    </p:spTree>
    <p:extLst>
      <p:ext uri="{BB962C8B-B14F-4D97-AF65-F5344CB8AC3E}">
        <p14:creationId xmlns:p14="http://schemas.microsoft.com/office/powerpoint/2010/main" val="367548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116E87-4B65-BD4D-B88C-F0D2E749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10 · ABWEICHUNGEN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Probleme &amp; 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65C951-4D39-50E9-1167-193CA5BF4F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8825"/>
            <a:ext cx="5181600" cy="4351338"/>
          </a:xfrm>
        </p:spPr>
        <p:txBody>
          <a:bodyPr/>
          <a:lstStyle/>
          <a:p>
            <a:pPr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ARCHITEKTUR-ABWEICHUNGEN</a:t>
            </a:r>
          </a:p>
          <a:p>
            <a:pPr marL="274320" indent="-274320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SW-UART (PA6) statt HW-USART1, falscher Pin in 1. PCB-Revision</a:t>
            </a:r>
          </a:p>
          <a:p>
            <a:pPr marL="274320" indent="-274320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Dualer Build-Target von Anfang an (Debug + Release)</a:t>
            </a:r>
          </a:p>
          <a:p>
            <a:pPr marL="274320" indent="-274320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Asynchrone Pre-Measurement-Timer (SCD41 5,5 s &amp; SPS30 16,5 s)</a:t>
            </a:r>
          </a:p>
          <a:p>
            <a:pPr marL="274320" indent="-274320">
              <a:spcBef>
                <a:spcPts val="10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60-Min-Superzyklus mit sensorspezifischen Häufigkeiten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3AA3C43-7133-D99E-C882-15DB5FE27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28825"/>
            <a:ext cx="5181600" cy="4351338"/>
          </a:xfrm>
        </p:spPr>
        <p:txBody>
          <a:bodyPr/>
          <a:lstStyle/>
          <a:p>
            <a:pPr>
              <a:buNone/>
            </a:pPr>
            <a:r>
              <a:rPr lang="de-DE" sz="1300" b="1" spc="200" dirty="0">
                <a:solidFill>
                  <a:srgbClr val="0070F3"/>
                </a:solidFill>
                <a:latin typeface="Consolas"/>
              </a:rPr>
              <a:t>PROBLEME &amp; LÖSUNGEN</a:t>
            </a:r>
          </a:p>
          <a:p>
            <a:pPr marL="274320" indent="-274320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PCB-Aufwand 9 h -&gt; 56 h: kein </a:t>
            </a:r>
            <a:r>
              <a:rPr lang="de-DE" sz="1500" dirty="0"/>
              <a:t>Fertiges </a:t>
            </a:r>
            <a:r>
              <a:rPr lang="de-DE" sz="1500" dirty="0" err="1"/>
              <a:t>Desgin</a:t>
            </a:r>
            <a:r>
              <a:rPr lang="de-DE" sz="1500" dirty="0"/>
              <a:t> </a:t>
            </a:r>
            <a:r>
              <a:rPr lang="de-DE" sz="1500" dirty="0">
                <a:solidFill>
                  <a:srgbClr val="171717"/>
                </a:solidFill>
              </a:rPr>
              <a:t>für den STM32WLE5</a:t>
            </a:r>
          </a:p>
          <a:p>
            <a:pPr marL="274320" indent="-274320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TPS63900 Step-up/down-Wandler falsch konfiguriert </a:t>
            </a:r>
            <a:br>
              <a:rPr lang="de-DE" sz="1500" dirty="0">
                <a:solidFill>
                  <a:srgbClr val="171717"/>
                </a:solidFill>
              </a:rPr>
            </a:br>
            <a:r>
              <a:rPr lang="de-DE" sz="1500" dirty="0">
                <a:solidFill>
                  <a:srgbClr val="171717"/>
                </a:solidFill>
              </a:rPr>
              <a:t>-&gt; Breakout-Workaround</a:t>
            </a:r>
          </a:p>
          <a:p>
            <a:pPr marL="274320" indent="-274320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BQ25185: interner 6 h Safety-Timer beendet Laden -&gt; Reset per GPIO-CE (200 ms HIGH pro 2h)</a:t>
            </a:r>
          </a:p>
          <a:p>
            <a:pPr marL="274320" indent="-274320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Sensor-Wechsel: BME280 -&gt; SHT45+BMP390 &amp; VEML6075 -&gt; LTR390</a:t>
            </a:r>
          </a:p>
          <a:p>
            <a:pPr marL="274320" indent="-274320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UV-Fenster: 2 mm Polystyrol + Korrekturfaktor 17/13</a:t>
            </a:r>
          </a:p>
          <a:p>
            <a:pPr marL="274320" indent="-274320">
              <a:spcBef>
                <a:spcPts val="9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500" dirty="0">
                <a:solidFill>
                  <a:srgbClr val="171717"/>
                </a:solidFill>
              </a:rPr>
              <a:t>Reichweite bei TTN und an der OTH</a:t>
            </a:r>
          </a:p>
        </p:txBody>
      </p:sp>
    </p:spTree>
    <p:extLst>
      <p:ext uri="{BB962C8B-B14F-4D97-AF65-F5344CB8AC3E}">
        <p14:creationId xmlns:p14="http://schemas.microsoft.com/office/powerpoint/2010/main" val="2941734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A34F3-D979-0EE7-B64C-4A762F9F3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8325"/>
            <a:ext cx="10515600" cy="1325563"/>
          </a:xfrm>
        </p:spPr>
        <p:txBody>
          <a:bodyPr/>
          <a:lstStyle/>
          <a:p>
            <a:pPr algn="l">
              <a:buNone/>
            </a:pPr>
            <a:r>
              <a:rPr lang="de-DE" sz="1400" spc="200" dirty="0">
                <a:solidFill>
                  <a:srgbClr val="0070F3"/>
                </a:solidFill>
                <a:latin typeface="Consolas"/>
              </a:rPr>
              <a:t>11 · FAZIT</a:t>
            </a:r>
          </a:p>
          <a:p>
            <a:pPr algn="l">
              <a:buNone/>
            </a:pPr>
            <a:r>
              <a:rPr lang="de-DE" sz="3200" b="1" dirty="0">
                <a:solidFill>
                  <a:srgbClr val="000000"/>
                </a:solidFill>
              </a:rPr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C24B3D-36DE-33FF-8F1B-30AD28014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8825"/>
            <a:ext cx="10515600" cy="4351338"/>
          </a:xfrm>
        </p:spPr>
        <p:txBody>
          <a:bodyPr/>
          <a:lstStyle/>
          <a:p>
            <a:pPr marL="342900" indent="-342900">
              <a:spcBef>
                <a:spcPts val="11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Kernziel erreicht: solar-betriebene Station seit Ende Mai 2026 im Außeneinsatz</a:t>
            </a:r>
          </a:p>
          <a:p>
            <a:pPr marL="342900" indent="-342900">
              <a:spcBef>
                <a:spcPts val="11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Alle 5 Kernsensoren liefern stabile Feldtest-Daten; Pipeline funktioniert end-to-end</a:t>
            </a:r>
          </a:p>
          <a:p>
            <a:pPr marL="342900" indent="-342900">
              <a:spcBef>
                <a:spcPts val="11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Größter Lerneffekt: PCB-Design (9 h -&gt; 56 h); RF, 4-Lagen-Stackup, Antennenpfad</a:t>
            </a:r>
          </a:p>
          <a:p>
            <a:pPr marL="342900" indent="-342900">
              <a:spcBef>
                <a:spcPts val="11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>
                <a:solidFill>
                  <a:srgbClr val="171717"/>
                </a:solidFill>
              </a:rPr>
              <a:t>Bugs (TPS63900, SW-UART, BQ25185-Solar-Timeout) als lehrreichste Momente</a:t>
            </a:r>
          </a:p>
          <a:p>
            <a:pPr marL="342900" indent="-342900">
              <a:spcBef>
                <a:spcPts val="1100"/>
              </a:spcBef>
              <a:buClr>
                <a:srgbClr val="0070F3"/>
              </a:buClr>
              <a:buFont typeface="Arial"/>
              <a:buChar char="•"/>
            </a:pPr>
            <a:r>
              <a:rPr lang="de-DE" sz="1800" dirty="0"/>
              <a:t>Anfrage beim Green-Office für OTH als Location</a:t>
            </a:r>
            <a:endParaRPr lang="de-DE" sz="1800" dirty="0">
              <a:solidFill>
                <a:srgbClr val="171717"/>
              </a:solidFill>
            </a:endParaRPr>
          </a:p>
          <a:p>
            <a:pPr>
              <a:spcBef>
                <a:spcPts val="1700"/>
              </a:spcBef>
              <a:buNone/>
            </a:pPr>
            <a:r>
              <a:rPr lang="de-DE" sz="1800" b="1" dirty="0">
                <a:solidFill>
                  <a:srgbClr val="0070F3"/>
                </a:solidFill>
              </a:rPr>
              <a:t>Nächster Schritt: Langzeit-Solar-Autarkie-Verifikation über mehrere Wochen.</a:t>
            </a:r>
          </a:p>
        </p:txBody>
      </p:sp>
    </p:spTree>
    <p:extLst>
      <p:ext uri="{BB962C8B-B14F-4D97-AF65-F5344CB8AC3E}">
        <p14:creationId xmlns:p14="http://schemas.microsoft.com/office/powerpoint/2010/main" val="2520739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08753232]">
  <a:themeElements>
    <a:clrScheme name="Office">
      <a:dk1>
        <a:srgbClr val="000000"/>
      </a:dk1>
      <a:lt1>
        <a:srgbClr val="FFFFFF"/>
      </a:lt1>
      <a:dk2>
        <a:srgbClr val="171717"/>
      </a:dk2>
      <a:lt2>
        <a:srgbClr val="FAFAFA"/>
      </a:lt2>
      <a:accent1>
        <a:srgbClr val="0070F3"/>
      </a:accent1>
      <a:accent2>
        <a:srgbClr val="7928CA"/>
      </a:accent2>
      <a:accent3>
        <a:srgbClr val="50E3C2"/>
      </a:accent3>
      <a:accent4>
        <a:srgbClr val="F5A623"/>
      </a:accent4>
      <a:accent5>
        <a:srgbClr val="FF0080"/>
      </a:accent5>
      <a:accent6>
        <a:srgbClr val="888888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594443-5e55-40f7-9b66-1e2179e72164}">
  <we:reference id="WA200010001" version="1.0.0.1" store="en-US" storeType="OMEX"/>
  <we:alternateReferences/>
  <we:properties>
    <we:property name="Microsoft.Office.CampaignId" value="&quot;none&quot;"/>
    <we:property name="claude.fileId" value="&quot;6254bbb3-df8c-4c61-9007-9c147a9f329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Macintosh PowerPoint</Application>
  <PresentationFormat>Breitbild</PresentationFormat>
  <Paragraphs>141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 [1782208753232]</vt:lpstr>
      <vt:lpstr>PROJEKTDOKUMENTATION HydroNodeStation01</vt:lpstr>
      <vt:lpstr>01 · EINLEITUNG Projektbeschreibung</vt:lpstr>
      <vt:lpstr>02 · HARDWARE Prototyp &amp; Custom PCB</vt:lpstr>
      <vt:lpstr>03 · GEHÄUSE Stevenson Screen</vt:lpstr>
      <vt:lpstr>04 · FIRMWARE Software &amp; Architektur</vt:lpstr>
      <vt:lpstr>05 · INBETRIEBNAHME In neun Schritten zur Station</vt:lpstr>
      <vt:lpstr>06 · ENERGIEEFFIZIENZ Tagesverbrauch &amp; Autonomie</vt:lpstr>
      <vt:lpstr>07 · TESTS &amp; VALIDIERUNG Prototyp &amp; Custom PCB im Feld</vt:lpstr>
      <vt:lpstr>08 · HYDRONODENETZWERK Systemarchitektur</vt:lpstr>
      <vt:lpstr>09 · ABSCHLUSS Open Source, Aufwand &amp; KI</vt:lpstr>
      <vt:lpstr>10 · ABWEICHUNGEN Probleme &amp; Lösungen</vt:lpstr>
      <vt:lpstr>11 · FAZIT 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Felix Knoll</cp:lastModifiedBy>
  <cp:revision>24</cp:revision>
  <dcterms:created xsi:type="dcterms:W3CDTF">2018-06-07T21:39:02Z</dcterms:created>
  <dcterms:modified xsi:type="dcterms:W3CDTF">2026-06-24T10:35:33Z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