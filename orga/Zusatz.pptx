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74" r:id="rId3"/>
    <p:sldId id="276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74AA77-AB27-8A0E-6EAE-2161F8D75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BC8D781-7AD4-DFB1-BFE5-C6A3F8B24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63E842-915D-FD91-2C5C-A3F471108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F27-B6F8-1D48-A40D-8C49BCEDD335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2DFF00-0694-5864-F0BD-443173053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B408FB-C856-58E7-321E-98A02DAD3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638C-4516-544E-9027-48F04B8B75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4968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9F2686-858C-42A0-D32F-C82A29E51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164B66-D572-979C-5A5C-7BD723E26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1A8847-03A4-0F01-E315-847EAEA84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F27-B6F8-1D48-A40D-8C49BCEDD335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024508-B0F0-E045-5052-85C46447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D2CC4B-99E9-2255-A8CE-274E7D986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638C-4516-544E-9027-48F04B8B75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49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D27DCF-028A-B230-2275-91D7842E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5DFE10-01C7-B868-161A-D49FEC049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5EFA53-A5F5-2F1F-0B0F-D99C9789A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F27-B6F8-1D48-A40D-8C49BCEDD335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EE651A-BA2C-8F55-19B7-AAD9FDA37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4B18CD-A088-FF38-A14F-4716DA7E8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638C-4516-544E-9027-48F04B8B75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892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8342E-1644-C537-488F-EC498E59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34FAE3-C4A9-954B-0085-21CDAFDDCD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628CE9-B554-1348-AF1B-3E8E36912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CBBC06-1AEA-4B3B-91DB-D8C41A223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F27-B6F8-1D48-A40D-8C49BCEDD335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A1FC7E-F4AC-DC38-A244-795999AE2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2F7BA86-3461-D6FD-075D-916F1C37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638C-4516-544E-9027-48F04B8B75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9310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C79A65-14D4-6213-412C-C1CCDD552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EBFED6-2D69-E460-7BE2-FCCCEF3AB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57B20D-A3A9-0C43-35FE-46F502FAE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196EBB-3C22-091F-E816-657E57D75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3CAA50B-3042-CD55-53EF-8396A5B99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2458EE-00C1-D323-78F6-6C067D95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F27-B6F8-1D48-A40D-8C49BCEDD335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A4F3FC1-80F6-37BB-CC86-ABA04E97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1616817-DA9F-842E-AF42-2BA6EC3A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638C-4516-544E-9027-48F04B8B75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5337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AA562-0766-62EF-0E48-07E10947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9BEB7D-1A0E-6EED-53AC-626F95BCC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F27-B6F8-1D48-A40D-8C49BCEDD335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EEEE70-3536-9459-BF33-78408C754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CB8BB0-0586-6ACD-2F6B-898F1E870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638C-4516-544E-9027-48F04B8B75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1574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4389574-C4FF-3740-57B1-57A7CA3D7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F27-B6F8-1D48-A40D-8C49BCEDD335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DE193D1-FA9D-7B5E-F6D8-1E66A77D7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837075-E7D8-0A56-D178-7A0B7B9F5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638C-4516-544E-9027-48F04B8B75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111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90E88E-97A1-FC0A-90EA-0AE0205E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89D739-C730-F0B2-9DB2-B8311C27E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04E0D89-4803-57BD-660E-63FE796B0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9D6AB7-4967-84EA-0AF4-EFF45E829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F27-B6F8-1D48-A40D-8C49BCEDD335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627E21-8823-4AF4-992A-BAB7BE14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6FF3C6-4B96-888A-4677-484D855F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638C-4516-544E-9027-48F04B8B75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8122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D927AA-CE21-CA2F-383C-558716529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779BDD9-AC67-ADE0-74C4-103F0D9A6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571DB34-6E0A-3395-67B1-37FAA10B4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E7A107-A593-4303-7722-875249BDA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F27-B6F8-1D48-A40D-8C49BCEDD335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B8D875-1F7A-CAFE-0C7E-712F5862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F611FE-63E8-DB4E-AC03-36E6980D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638C-4516-544E-9027-48F04B8B75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7563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F9C08-BA75-A5F3-7E13-2D3ADC0CC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337A22F-22F7-D5FE-6BAF-57CC331AC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26BE17-3376-1F27-068C-9C323816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F27-B6F8-1D48-A40D-8C49BCEDD335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D8ED81-B281-A4CE-352D-232348263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ED03A4-54C5-53CA-C09F-CAFC8F1DF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638C-4516-544E-9027-48F04B8B75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0673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8B07132-62AA-B09B-3575-74B7A0729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AA32B1B-6BFE-2BD0-A6C7-BAC3DB29E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734E04-8F64-2827-7303-E7707C72E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F27-B6F8-1D48-A40D-8C49BCEDD335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826A91-89CC-53DF-E210-A50BE7FA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A019F6-CFAD-89E1-2D92-B43D994E3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6638C-4516-544E-9027-48F04B8B75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8117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604450C-3220-F14F-CCE2-C9D80B514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0DED7D-3E87-BDF4-5FC2-3F46D0E87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39F8A1-DEBE-4A18-AE8A-FB38742DEC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5FF27-B6F8-1D48-A40D-8C49BCEDD335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CFBE32-32C7-7F4D-0DFE-A475E367F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526FAE-FDA9-E9BE-7F37-2F1C0C78C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6638C-4516-544E-9027-48F04B8B75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737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B54193-C5E4-1CA8-3014-20686B19F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70000"/>
            <a:ext cx="9144000" cy="2540000"/>
          </a:xfrm>
        </p:spPr>
        <p:txBody>
          <a:bodyPr>
            <a:noAutofit/>
          </a:bodyPr>
          <a:lstStyle/>
          <a:p>
            <a:r>
              <a:rPr lang="de-DE" sz="3600" dirty="0"/>
              <a:t>Autarke IoT-Wetterstation
mit </a:t>
            </a:r>
            <a:r>
              <a:rPr lang="de-DE" sz="3600" dirty="0" err="1"/>
              <a:t>LoRaWAN</a:t>
            </a:r>
            <a:endParaRPr lang="de-DE" sz="36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11A7FCD-CC7E-4B66-5A0E-08E0383E8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1000"/>
            <a:ext cx="9144000" cy="1524000"/>
          </a:xfrm>
        </p:spPr>
        <p:txBody>
          <a:bodyPr>
            <a:noAutofit/>
          </a:bodyPr>
          <a:lstStyle/>
          <a:p>
            <a:r>
              <a:rPr lang="de-DE" sz="1800" dirty="0" err="1"/>
              <a:t>Seeed</a:t>
            </a:r>
            <a:r>
              <a:rPr lang="de-DE" sz="1800" dirty="0"/>
              <a:t> Studio XIAO + SX1262 | Helium IoT | </a:t>
            </a:r>
            <a:r>
              <a:rPr lang="de-DE" sz="1800" dirty="0" err="1"/>
              <a:t>HydroNode</a:t>
            </a:r>
            <a:r>
              <a:rPr lang="de-DE" sz="1800" dirty="0"/>
              <a:t>
IT6 - DAPI</a:t>
            </a:r>
          </a:p>
        </p:txBody>
      </p:sp>
    </p:spTree>
    <p:extLst>
      <p:ext uri="{BB962C8B-B14F-4D97-AF65-F5344CB8AC3E}">
        <p14:creationId xmlns:p14="http://schemas.microsoft.com/office/powerpoint/2010/main" val="506234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40"/>
          <p:cNvSpPr txBox="1"/>
          <p:nvPr/>
        </p:nvSpPr>
        <p:spPr>
          <a:xfrm>
            <a:off x="304800" y="228600"/>
            <a:ext cx="1158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3200" b="1" dirty="0">
                <a:solidFill>
                  <a:srgbClr val="1A1A2E"/>
                </a:solidFill>
                <a:latin typeface="Aptos"/>
              </a:rPr>
              <a:t>HydroStation One</a:t>
            </a:r>
          </a:p>
        </p:txBody>
      </p:sp>
      <p:sp>
        <p:nvSpPr>
          <p:cNvPr id="41" name="T41"/>
          <p:cNvSpPr txBox="1"/>
          <p:nvPr/>
        </p:nvSpPr>
        <p:spPr>
          <a:xfrm>
            <a:off x="304800" y="666750"/>
            <a:ext cx="1158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1400" dirty="0">
                <a:solidFill>
                  <a:srgbClr val="5A5A6E"/>
                </a:solidFill>
                <a:latin typeface="Aptos"/>
              </a:rPr>
              <a:t>Autarke Umweltüberwachung. Intelligent. Vernetzt. Solarbetrieben.</a:t>
            </a:r>
          </a:p>
        </p:txBody>
      </p:sp>
      <p:sp>
        <p:nvSpPr>
          <p:cNvPr id="42" name="S42"/>
          <p:cNvSpPr/>
          <p:nvPr/>
        </p:nvSpPr>
        <p:spPr>
          <a:xfrm>
            <a:off x="4724400" y="1676400"/>
            <a:ext cx="2743200" cy="3505200"/>
          </a:xfrm>
          <a:prstGeom prst="roundRect">
            <a:avLst>
              <a:gd name="adj" fmla="val 15000"/>
            </a:avLst>
          </a:pr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3" name="S43"/>
          <p:cNvSpPr/>
          <p:nvPr/>
        </p:nvSpPr>
        <p:spPr>
          <a:xfrm>
            <a:off x="4876800" y="1828800"/>
            <a:ext cx="2438400" cy="28575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4" name="T44"/>
          <p:cNvSpPr txBox="1"/>
          <p:nvPr/>
        </p:nvSpPr>
        <p:spPr>
          <a:xfrm>
            <a:off x="4876800" y="2057400"/>
            <a:ext cx="2438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1800" b="1" dirty="0">
                <a:solidFill>
                  <a:srgbClr val="1A1A2E"/>
                </a:solidFill>
                <a:latin typeface="Aptos"/>
              </a:rPr>
              <a:t>XIAO ESP32S3</a:t>
            </a:r>
          </a:p>
        </p:txBody>
      </p:sp>
      <p:sp>
        <p:nvSpPr>
          <p:cNvPr id="45" name="T45"/>
          <p:cNvSpPr txBox="1"/>
          <p:nvPr/>
        </p:nvSpPr>
        <p:spPr>
          <a:xfrm>
            <a:off x="4876800" y="2438400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1400" b="1" dirty="0">
                <a:solidFill>
                  <a:srgbClr val="4A90A4"/>
                </a:solidFill>
                <a:latin typeface="Aptos"/>
              </a:rPr>
              <a:t>Wio-SX1262 LoRa</a:t>
            </a:r>
          </a:p>
        </p:txBody>
      </p:sp>
      <p:sp>
        <p:nvSpPr>
          <p:cNvPr id="46" name="T46"/>
          <p:cNvSpPr txBox="1"/>
          <p:nvPr/>
        </p:nvSpPr>
        <p:spPr>
          <a:xfrm>
            <a:off x="4876800" y="2743200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1100" dirty="0" err="1">
                <a:solidFill>
                  <a:srgbClr val="7A7A8A"/>
                </a:solidFill>
                <a:latin typeface="Aptos"/>
              </a:rPr>
              <a:t>LoRa</a:t>
            </a:r>
            <a:r>
              <a:rPr lang="de-DE" sz="1100" dirty="0">
                <a:solidFill>
                  <a:srgbClr val="7A7A8A"/>
                </a:solidFill>
                <a:latin typeface="Aptos"/>
              </a:rPr>
              <a:t> | WiFi | BLE 5.0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4876800" y="335280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endParaRPr lang="de-DE" sz="900" dirty="0">
              <a:solidFill>
                <a:srgbClr val="5A5A6E"/>
              </a:solidFill>
              <a:latin typeface="Aptos"/>
            </a:endParaRPr>
          </a:p>
        </p:txBody>
      </p:sp>
      <p:sp>
        <p:nvSpPr>
          <p:cNvPr id="50" name="S50"/>
          <p:cNvSpPr/>
          <p:nvPr/>
        </p:nvSpPr>
        <p:spPr>
          <a:xfrm>
            <a:off x="5334000" y="4572000"/>
            <a:ext cx="1524000" cy="457200"/>
          </a:xfrm>
          <a:prstGeom prst="roundRect">
            <a:avLst>
              <a:gd name="adj" fmla="val 8000"/>
            </a:avLst>
          </a:prstGeom>
          <a:solidFill>
            <a:srgbClr val="E8C46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1" name="T51"/>
          <p:cNvSpPr txBox="1"/>
          <p:nvPr/>
        </p:nvSpPr>
        <p:spPr>
          <a:xfrm>
            <a:off x="5334000" y="46482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1600" b="1" dirty="0">
                <a:solidFill>
                  <a:srgbClr val="1A1A2E"/>
                </a:solidFill>
                <a:latin typeface="Aptos"/>
              </a:rPr>
              <a:t>Solar Powered</a:t>
            </a:r>
          </a:p>
        </p:txBody>
      </p:sp>
      <p:sp>
        <p:nvSpPr>
          <p:cNvPr id="52" name="S52"/>
          <p:cNvSpPr/>
          <p:nvPr/>
        </p:nvSpPr>
        <p:spPr>
          <a:xfrm>
            <a:off x="5943600" y="13716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4A90A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" name="D53"/>
          <p:cNvSpPr/>
          <p:nvPr/>
        </p:nvSpPr>
        <p:spPr>
          <a:xfrm>
            <a:off x="5905500" y="1295400"/>
            <a:ext cx="152400" cy="152400"/>
          </a:xfrm>
          <a:prstGeom prst="ellipse">
            <a:avLst/>
          </a:prstGeom>
          <a:solidFill>
            <a:srgbClr val="4A90A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0" name="F60"/>
          <p:cNvSpPr txBox="1"/>
          <p:nvPr/>
        </p:nvSpPr>
        <p:spPr>
          <a:xfrm>
            <a:off x="457200" y="1524000"/>
            <a:ext cx="1981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ts val="2000"/>
              </a:lnSpc>
            </a:pPr>
            <a:r>
              <a:rPr lang="de-DE" sz="1400" b="1" dirty="0">
                <a:solidFill>
                  <a:srgbClr val="D4A574"/>
                </a:solidFill>
                <a:latin typeface="Aptos Display"/>
              </a:rPr>
              <a:t>CO₂-Sensor (SCD41)</a:t>
            </a:r>
            <a:r>
              <a:rPr lang="de-DE" sz="1100" dirty="0">
                <a:solidFill>
                  <a:srgbClr val="4A4A5A"/>
                </a:solidFill>
                <a:latin typeface="Aptos"/>
              </a:rPr>
              <a:t>
Photakustisches Prinzip
</a:t>
            </a:r>
          </a:p>
        </p:txBody>
      </p:sp>
      <p:sp>
        <p:nvSpPr>
          <p:cNvPr id="61" name="L61"/>
          <p:cNvSpPr/>
          <p:nvPr/>
        </p:nvSpPr>
        <p:spPr>
          <a:xfrm>
            <a:off x="2590800" y="1752600"/>
            <a:ext cx="2133600" cy="1905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2" name="D62"/>
          <p:cNvSpPr/>
          <p:nvPr/>
        </p:nvSpPr>
        <p:spPr>
          <a:xfrm>
            <a:off x="2514600" y="1714500"/>
            <a:ext cx="76200" cy="762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3" name="F63"/>
          <p:cNvSpPr txBox="1"/>
          <p:nvPr/>
        </p:nvSpPr>
        <p:spPr>
          <a:xfrm>
            <a:off x="457200" y="2743200"/>
            <a:ext cx="1981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ts val="2000"/>
              </a:lnSpc>
            </a:pPr>
            <a:r>
              <a:rPr lang="de-DE" sz="1400" b="1" dirty="0">
                <a:solidFill>
                  <a:srgbClr val="4A90A4"/>
                </a:solidFill>
                <a:latin typeface="Aptos Display"/>
              </a:rPr>
              <a:t>Temperatur &amp; Luftfeuchte</a:t>
            </a:r>
          </a:p>
          <a:p>
            <a:pPr algn="r">
              <a:lnSpc>
                <a:spcPts val="1600"/>
              </a:lnSpc>
            </a:pPr>
            <a:r>
              <a:rPr lang="de-DE" sz="1100" dirty="0">
                <a:solidFill>
                  <a:srgbClr val="4A4A5A"/>
                </a:solidFill>
                <a:latin typeface="Aptos"/>
              </a:rPr>
              <a:t>BME280 Sensor (Bosch)
</a:t>
            </a:r>
          </a:p>
        </p:txBody>
      </p:sp>
      <p:sp>
        <p:nvSpPr>
          <p:cNvPr id="64" name="L64"/>
          <p:cNvSpPr/>
          <p:nvPr/>
        </p:nvSpPr>
        <p:spPr>
          <a:xfrm>
            <a:off x="2590800" y="2971800"/>
            <a:ext cx="2133600" cy="19050"/>
          </a:xfrm>
          <a:prstGeom prst="rect">
            <a:avLst/>
          </a:prstGeom>
          <a:solidFill>
            <a:srgbClr val="4A90A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5" name="D65"/>
          <p:cNvSpPr/>
          <p:nvPr/>
        </p:nvSpPr>
        <p:spPr>
          <a:xfrm>
            <a:off x="2514600" y="2933700"/>
            <a:ext cx="76200" cy="76200"/>
          </a:xfrm>
          <a:prstGeom prst="ellipse">
            <a:avLst/>
          </a:prstGeom>
          <a:solidFill>
            <a:srgbClr val="4A90A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6" name="F66"/>
          <p:cNvSpPr txBox="1"/>
          <p:nvPr/>
        </p:nvSpPr>
        <p:spPr>
          <a:xfrm>
            <a:off x="457200" y="3962400"/>
            <a:ext cx="19812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ts val="2000"/>
              </a:lnSpc>
            </a:pPr>
            <a:r>
              <a:rPr lang="de-DE" sz="1400" b="1" dirty="0">
                <a:solidFill>
                  <a:srgbClr val="5B8C5A"/>
                </a:solidFill>
                <a:latin typeface="Aptos Display"/>
              </a:rPr>
              <a:t>UV-Index Messung</a:t>
            </a:r>
          </a:p>
          <a:p>
            <a:pPr algn="r">
              <a:lnSpc>
                <a:spcPts val="1600"/>
              </a:lnSpc>
            </a:pPr>
            <a:r>
              <a:rPr lang="de-DE" sz="1100" dirty="0">
                <a:solidFill>
                  <a:srgbClr val="4A4A5A"/>
                </a:solidFill>
                <a:latin typeface="Aptos"/>
              </a:rPr>
              <a:t>VEML6075
UVA + UVB-Spektrum</a:t>
            </a:r>
          </a:p>
        </p:txBody>
      </p:sp>
      <p:sp>
        <p:nvSpPr>
          <p:cNvPr id="67" name="L67"/>
          <p:cNvSpPr/>
          <p:nvPr/>
        </p:nvSpPr>
        <p:spPr>
          <a:xfrm>
            <a:off x="2590800" y="4191000"/>
            <a:ext cx="2133600" cy="1905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8" name="D68"/>
          <p:cNvSpPr/>
          <p:nvPr/>
        </p:nvSpPr>
        <p:spPr>
          <a:xfrm>
            <a:off x="2514600" y="4152900"/>
            <a:ext cx="76200" cy="76200"/>
          </a:xfrm>
          <a:prstGeom prst="ellipse">
            <a:avLst/>
          </a:prstGeom>
          <a:solidFill>
            <a:srgbClr val="5B8C5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0" name="F70"/>
          <p:cNvSpPr txBox="1"/>
          <p:nvPr/>
        </p:nvSpPr>
        <p:spPr>
          <a:xfrm>
            <a:off x="9677400" y="1524000"/>
            <a:ext cx="2133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2000"/>
              </a:lnSpc>
            </a:pPr>
            <a:r>
              <a:rPr lang="de-DE" sz="1400" b="1" dirty="0">
                <a:solidFill>
                  <a:srgbClr val="D4A574"/>
                </a:solidFill>
                <a:latin typeface="Aptos Display"/>
              </a:rPr>
              <a:t>LoRaWAN Reichweite</a:t>
            </a:r>
          </a:p>
          <a:p>
            <a:pPr algn="l">
              <a:lnSpc>
                <a:spcPts val="1600"/>
              </a:lnSpc>
            </a:pPr>
            <a:r>
              <a:rPr lang="de-DE" sz="1100" dirty="0">
                <a:solidFill>
                  <a:srgbClr val="4A4A5A"/>
                </a:solidFill>
                <a:latin typeface="Aptos"/>
              </a:rPr>
              <a:t>Bis zu 2 km Reichweite
SF7–SF12 Spreading Factor
</a:t>
            </a:r>
          </a:p>
        </p:txBody>
      </p:sp>
      <p:sp>
        <p:nvSpPr>
          <p:cNvPr id="71" name="L71"/>
          <p:cNvSpPr/>
          <p:nvPr/>
        </p:nvSpPr>
        <p:spPr>
          <a:xfrm>
            <a:off x="7467600" y="1752600"/>
            <a:ext cx="2057400" cy="1905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2" name="D72"/>
          <p:cNvSpPr/>
          <p:nvPr/>
        </p:nvSpPr>
        <p:spPr>
          <a:xfrm>
            <a:off x="9525000" y="1714500"/>
            <a:ext cx="76200" cy="762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3" name="F73"/>
          <p:cNvSpPr txBox="1"/>
          <p:nvPr/>
        </p:nvSpPr>
        <p:spPr>
          <a:xfrm>
            <a:off x="9677400" y="2743200"/>
            <a:ext cx="2133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2000"/>
              </a:lnSpc>
            </a:pPr>
            <a:r>
              <a:rPr lang="de-DE" sz="1400" b="1" dirty="0">
                <a:solidFill>
                  <a:srgbClr val="4A90A4"/>
                </a:solidFill>
                <a:latin typeface="Aptos Display"/>
              </a:rPr>
              <a:t>Helium IoT Netzwerk</a:t>
            </a:r>
          </a:p>
          <a:p>
            <a:pPr algn="l">
              <a:lnSpc>
                <a:spcPts val="1600"/>
              </a:lnSpc>
            </a:pPr>
            <a:r>
              <a:rPr lang="de-DE" sz="1100" dirty="0">
                <a:solidFill>
                  <a:srgbClr val="4A4A5A"/>
                </a:solidFill>
                <a:latin typeface="Aptos"/>
              </a:rPr>
              <a:t>Dezentral &amp; </a:t>
            </a:r>
            <a:r>
              <a:rPr lang="de-DE" sz="1100" dirty="0" err="1">
                <a:solidFill>
                  <a:srgbClr val="4A4A5A"/>
                </a:solidFill>
                <a:latin typeface="Aptos"/>
              </a:rPr>
              <a:t>permissionless</a:t>
            </a:r>
            <a:r>
              <a:rPr lang="de-DE" sz="1100" dirty="0">
                <a:solidFill>
                  <a:srgbClr val="4A4A5A"/>
                </a:solidFill>
                <a:latin typeface="Aptos"/>
              </a:rPr>
              <a:t>
Globale LoRaWAN-Abdeckung</a:t>
            </a:r>
          </a:p>
        </p:txBody>
      </p:sp>
      <p:sp>
        <p:nvSpPr>
          <p:cNvPr id="74" name="L74"/>
          <p:cNvSpPr/>
          <p:nvPr/>
        </p:nvSpPr>
        <p:spPr>
          <a:xfrm>
            <a:off x="7467600" y="2971800"/>
            <a:ext cx="2057400" cy="19050"/>
          </a:xfrm>
          <a:prstGeom prst="rect">
            <a:avLst/>
          </a:prstGeom>
          <a:solidFill>
            <a:srgbClr val="4A90A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5" name="D75"/>
          <p:cNvSpPr/>
          <p:nvPr/>
        </p:nvSpPr>
        <p:spPr>
          <a:xfrm>
            <a:off x="9525000" y="2933700"/>
            <a:ext cx="76200" cy="76200"/>
          </a:xfrm>
          <a:prstGeom prst="ellipse">
            <a:avLst/>
          </a:prstGeom>
          <a:solidFill>
            <a:srgbClr val="4A90A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6" name="F76"/>
          <p:cNvSpPr txBox="1"/>
          <p:nvPr/>
        </p:nvSpPr>
        <p:spPr>
          <a:xfrm>
            <a:off x="9677400" y="3962400"/>
            <a:ext cx="2133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2000"/>
              </a:lnSpc>
            </a:pPr>
            <a:r>
              <a:rPr lang="de-DE" sz="1400" b="1" dirty="0">
                <a:solidFill>
                  <a:srgbClr val="E8C468"/>
                </a:solidFill>
                <a:latin typeface="Aptos Display"/>
              </a:rPr>
              <a:t>7 Tage Autonomie</a:t>
            </a:r>
          </a:p>
          <a:p>
            <a:pPr algn="l">
              <a:lnSpc>
                <a:spcPts val="1600"/>
              </a:lnSpc>
            </a:pPr>
            <a:r>
              <a:rPr lang="de-DE" sz="1100" dirty="0">
                <a:solidFill>
                  <a:srgbClr val="4A4A5A"/>
                </a:solidFill>
                <a:latin typeface="Aptos"/>
              </a:rPr>
              <a:t>6W Solarpanel + 2x 3000 mAh LiPo
&lt;2 µA Sleep-Modus</a:t>
            </a:r>
          </a:p>
        </p:txBody>
      </p:sp>
      <p:sp>
        <p:nvSpPr>
          <p:cNvPr id="77" name="L77"/>
          <p:cNvSpPr/>
          <p:nvPr/>
        </p:nvSpPr>
        <p:spPr>
          <a:xfrm>
            <a:off x="7467600" y="4191000"/>
            <a:ext cx="2057400" cy="19050"/>
          </a:xfrm>
          <a:prstGeom prst="rect">
            <a:avLst/>
          </a:prstGeom>
          <a:solidFill>
            <a:srgbClr val="E8C46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8" name="D78"/>
          <p:cNvSpPr/>
          <p:nvPr/>
        </p:nvSpPr>
        <p:spPr>
          <a:xfrm>
            <a:off x="9525000" y="4152900"/>
            <a:ext cx="76200" cy="76200"/>
          </a:xfrm>
          <a:prstGeom prst="ellipse">
            <a:avLst/>
          </a:prstGeom>
          <a:solidFill>
            <a:srgbClr val="E8C46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80" name="S80"/>
          <p:cNvSpPr/>
          <p:nvPr/>
        </p:nvSpPr>
        <p:spPr>
          <a:xfrm>
            <a:off x="304800" y="5486400"/>
            <a:ext cx="11582400" cy="914400"/>
          </a:xfrm>
          <a:prstGeom prst="roundRect">
            <a:avLst>
              <a:gd name="adj" fmla="val 8000"/>
            </a:avLst>
          </a:pr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0" name="Spec0"/>
          <p:cNvSpPr txBox="1"/>
          <p:nvPr/>
        </p:nvSpPr>
        <p:spPr>
          <a:xfrm>
            <a:off x="457200" y="55626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ts val="2800"/>
              </a:lnSpc>
            </a:pPr>
            <a:r>
              <a:rPr lang="de-DE" sz="2400" b="1" dirty="0">
                <a:solidFill>
                  <a:srgbClr val="D4A574"/>
                </a:solidFill>
                <a:latin typeface="Aptos Display"/>
              </a:rPr>
              <a:t>3 Sensoren</a:t>
            </a:r>
          </a:p>
          <a:p>
            <a:pPr algn="ctr">
              <a:lnSpc>
                <a:spcPts val="1400"/>
              </a:lnSpc>
            </a:pPr>
            <a:r>
              <a:rPr lang="de-DE" sz="1000" dirty="0">
                <a:solidFill>
                  <a:srgbClr val="7A7A8A"/>
                </a:solidFill>
                <a:latin typeface="Aptos"/>
              </a:rPr>
              <a:t>integriert</a:t>
            </a:r>
          </a:p>
        </p:txBody>
      </p:sp>
      <p:sp>
        <p:nvSpPr>
          <p:cNvPr id="100" name="L100"/>
          <p:cNvSpPr/>
          <p:nvPr/>
        </p:nvSpPr>
        <p:spPr>
          <a:xfrm>
            <a:off x="2730500" y="5638800"/>
            <a:ext cx="1" cy="1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1" name="Spec1"/>
          <p:cNvSpPr txBox="1"/>
          <p:nvPr/>
        </p:nvSpPr>
        <p:spPr>
          <a:xfrm>
            <a:off x="2743200" y="55626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ts val="2800"/>
              </a:lnSpc>
            </a:pPr>
            <a:r>
              <a:rPr lang="de-DE" sz="2400" b="1" dirty="0">
                <a:solidFill>
                  <a:srgbClr val="4A90A4"/>
                </a:solidFill>
                <a:latin typeface="Aptos Display"/>
              </a:rPr>
              <a:t>2 km</a:t>
            </a:r>
          </a:p>
          <a:p>
            <a:pPr algn="ctr">
              <a:lnSpc>
                <a:spcPts val="1400"/>
              </a:lnSpc>
            </a:pPr>
            <a:r>
              <a:rPr lang="de-DE" sz="1000" dirty="0">
                <a:solidFill>
                  <a:srgbClr val="7A7A8A"/>
                </a:solidFill>
                <a:latin typeface="Aptos"/>
              </a:rPr>
              <a:t>LoRa Range</a:t>
            </a:r>
          </a:p>
        </p:txBody>
      </p:sp>
      <p:sp>
        <p:nvSpPr>
          <p:cNvPr id="101" name="L101"/>
          <p:cNvSpPr/>
          <p:nvPr/>
        </p:nvSpPr>
        <p:spPr>
          <a:xfrm>
            <a:off x="5016500" y="5638800"/>
            <a:ext cx="1" cy="1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2" name="Spec2"/>
          <p:cNvSpPr txBox="1"/>
          <p:nvPr/>
        </p:nvSpPr>
        <p:spPr>
          <a:xfrm>
            <a:off x="5029200" y="55626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ts val="2800"/>
              </a:lnSpc>
            </a:pPr>
            <a:r>
              <a:rPr lang="de-DE" sz="2400" b="1" dirty="0">
                <a:solidFill>
                  <a:srgbClr val="5B8C5A"/>
                </a:solidFill>
                <a:latin typeface="Aptos Display"/>
              </a:rPr>
              <a:t>7 Tage</a:t>
            </a:r>
          </a:p>
          <a:p>
            <a:pPr algn="ctr">
              <a:lnSpc>
                <a:spcPts val="1400"/>
              </a:lnSpc>
            </a:pPr>
            <a:r>
              <a:rPr lang="de-DE" sz="1000" dirty="0">
                <a:solidFill>
                  <a:srgbClr val="7A7A8A"/>
                </a:solidFill>
                <a:latin typeface="Aptos"/>
              </a:rPr>
              <a:t>ohne Sonne</a:t>
            </a:r>
          </a:p>
        </p:txBody>
      </p:sp>
      <p:sp>
        <p:nvSpPr>
          <p:cNvPr id="102" name="L102"/>
          <p:cNvSpPr/>
          <p:nvPr/>
        </p:nvSpPr>
        <p:spPr>
          <a:xfrm>
            <a:off x="7302500" y="5638800"/>
            <a:ext cx="1" cy="1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3" name="Spec3"/>
          <p:cNvSpPr txBox="1"/>
          <p:nvPr/>
        </p:nvSpPr>
        <p:spPr>
          <a:xfrm>
            <a:off x="7315200" y="55626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ts val="2800"/>
              </a:lnSpc>
            </a:pPr>
            <a:r>
              <a:rPr lang="de-DE" sz="2400" b="1" dirty="0">
                <a:solidFill>
                  <a:srgbClr val="E8C468"/>
                </a:solidFill>
                <a:latin typeface="Aptos Display"/>
              </a:rPr>
              <a:t>1.62 µA</a:t>
            </a:r>
          </a:p>
          <a:p>
            <a:pPr algn="ctr">
              <a:lnSpc>
                <a:spcPts val="1400"/>
              </a:lnSpc>
            </a:pPr>
            <a:r>
              <a:rPr lang="de-DE" sz="1000" dirty="0">
                <a:solidFill>
                  <a:srgbClr val="7A7A8A"/>
                </a:solidFill>
                <a:latin typeface="Aptos"/>
              </a:rPr>
              <a:t>Ultra Low Power</a:t>
            </a:r>
          </a:p>
        </p:txBody>
      </p:sp>
      <p:sp>
        <p:nvSpPr>
          <p:cNvPr id="103" name="L103"/>
          <p:cNvSpPr/>
          <p:nvPr/>
        </p:nvSpPr>
        <p:spPr>
          <a:xfrm>
            <a:off x="9588500" y="5638800"/>
            <a:ext cx="1" cy="1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4" name="Spec4"/>
          <p:cNvSpPr txBox="1"/>
          <p:nvPr/>
        </p:nvSpPr>
        <p:spPr>
          <a:xfrm>
            <a:off x="9601200" y="55626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ts val="2800"/>
              </a:lnSpc>
            </a:pPr>
            <a:r>
              <a:rPr lang="de-DE" sz="2400" b="1" dirty="0">
                <a:solidFill>
                  <a:srgbClr val="C07A56"/>
                </a:solidFill>
                <a:latin typeface="Aptos Display"/>
              </a:rPr>
              <a:t>&lt; 100 €</a:t>
            </a:r>
          </a:p>
          <a:p>
            <a:pPr algn="ctr">
              <a:lnSpc>
                <a:spcPts val="1400"/>
              </a:lnSpc>
            </a:pPr>
            <a:r>
              <a:rPr lang="de-DE" sz="1000" dirty="0">
                <a:solidFill>
                  <a:srgbClr val="7A7A8A"/>
                </a:solidFill>
                <a:latin typeface="Aptos"/>
              </a:rPr>
              <a:t>Gesamtsystem</a:t>
            </a:r>
          </a:p>
        </p:txBody>
      </p:sp>
      <p:pic>
        <p:nvPicPr>
          <p:cNvPr id="1026" name="Picture 2" descr="SX1262">
            <a:extLst>
              <a:ext uri="{FF2B5EF4-FFF2-40B4-BE49-F238E27FC236}">
                <a16:creationId xmlns:a16="http://schemas.microsoft.com/office/drawing/2014/main" id="{F5F8162A-6FBF-F947-47E5-8C15D3798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094" y="3086100"/>
            <a:ext cx="1317812" cy="131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729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/>
        </p:nvSpPr>
        <p:spPr>
          <a:xfrm>
            <a:off x="304800" y="203200"/>
            <a:ext cx="1158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3200" b="1" dirty="0">
                <a:solidFill>
                  <a:srgbClr val="1A1A2E"/>
                </a:solidFill>
                <a:latin typeface="Aptos"/>
              </a:rPr>
              <a:t>HydroNode API</a:t>
            </a:r>
          </a:p>
        </p:txBody>
      </p:sp>
      <p:sp>
        <p:nvSpPr>
          <p:cNvPr id="201" name="Subtitle"/>
          <p:cNvSpPr txBox="1"/>
          <p:nvPr/>
        </p:nvSpPr>
        <p:spPr>
          <a:xfrm>
            <a:off x="304800" y="660400"/>
            <a:ext cx="1158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1400" dirty="0">
                <a:solidFill>
                  <a:srgbClr val="5A5A6E"/>
                </a:solidFill>
                <a:latin typeface="Aptos"/>
              </a:rPr>
              <a:t>Zwei Wege. Eine Plattform. Vollständig abgesichert.</a:t>
            </a:r>
          </a:p>
        </p:txBody>
      </p:sp>
      <p:sp>
        <p:nvSpPr>
          <p:cNvPr id="202" name="AccentLine"/>
          <p:cNvSpPr/>
          <p:nvPr/>
        </p:nvSpPr>
        <p:spPr>
          <a:xfrm>
            <a:off x="5207000" y="1016000"/>
            <a:ext cx="1778000" cy="254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0" name="CardLeft"/>
          <p:cNvSpPr/>
          <p:nvPr/>
        </p:nvSpPr>
        <p:spPr>
          <a:xfrm>
            <a:off x="381000" y="1219200"/>
            <a:ext cx="5562600" cy="4191000"/>
          </a:xfrm>
          <a:prstGeom prst="roundRect">
            <a:avLst>
              <a:gd name="adj" fmla="val 5000"/>
            </a:avLst>
          </a:pr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1" name="LabelHTTP"/>
          <p:cNvSpPr txBox="1"/>
          <p:nvPr/>
        </p:nvSpPr>
        <p:spPr>
          <a:xfrm>
            <a:off x="584200" y="1346200"/>
            <a:ext cx="5156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1000" dirty="0">
                <a:solidFill>
                  <a:srgbClr val="D4A574"/>
                </a:solidFill>
                <a:latin typeface="Aptos"/>
              </a:rPr>
              <a:t>KANAL A</a:t>
            </a:r>
          </a:p>
        </p:txBody>
      </p:sp>
      <p:sp>
        <p:nvSpPr>
          <p:cNvPr id="212" name="TitleHTTP"/>
          <p:cNvSpPr txBox="1"/>
          <p:nvPr/>
        </p:nvSpPr>
        <p:spPr>
          <a:xfrm>
            <a:off x="584200" y="1600200"/>
            <a:ext cx="5156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2000" b="1" dirty="0">
                <a:solidFill>
                  <a:srgbClr val="1A1A2E"/>
                </a:solidFill>
                <a:latin typeface="Aptos Display"/>
              </a:rPr>
              <a:t>Direkte HTTP-API</a:t>
            </a:r>
          </a:p>
        </p:txBody>
      </p:sp>
      <p:sp>
        <p:nvSpPr>
          <p:cNvPr id="213" name="SepLeft"/>
          <p:cNvSpPr/>
          <p:nvPr/>
        </p:nvSpPr>
        <p:spPr>
          <a:xfrm>
            <a:off x="1143000" y="2006600"/>
            <a:ext cx="403860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0" name="HTTPStep1"/>
          <p:cNvSpPr/>
          <p:nvPr/>
        </p:nvSpPr>
        <p:spPr>
          <a:xfrm>
            <a:off x="762000" y="2133600"/>
            <a:ext cx="4800600" cy="4064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200" b="1" dirty="0">
                <a:solidFill>
                  <a:srgbClr val="1A1A2E"/>
                </a:solidFill>
                <a:latin typeface="Aptos"/>
              </a:rPr>
              <a:t>IoT-Sensor (ESP32, Arduino)</a:t>
            </a:r>
          </a:p>
        </p:txBody>
      </p:sp>
      <p:sp>
        <p:nvSpPr>
          <p:cNvPr id="221" name="ArrowHTTP1"/>
          <p:cNvSpPr/>
          <p:nvPr/>
        </p:nvSpPr>
        <p:spPr>
          <a:xfrm>
            <a:off x="3086100" y="2590800"/>
            <a:ext cx="152400" cy="20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2" name="HTTPStep2"/>
          <p:cNvSpPr/>
          <p:nvPr/>
        </p:nvSpPr>
        <p:spPr>
          <a:xfrm>
            <a:off x="762000" y="2844800"/>
            <a:ext cx="4800600" cy="4064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100" b="1" dirty="0">
                <a:solidFill>
                  <a:srgbClr val="D4A574"/>
                </a:solidFill>
                <a:latin typeface="Aptos"/>
              </a:rPr>
              <a:t>POST /api/webhook/sensor-value</a:t>
            </a:r>
          </a:p>
        </p:txBody>
      </p:sp>
      <p:sp>
        <p:nvSpPr>
          <p:cNvPr id="223" name="ArrowHTTP2"/>
          <p:cNvSpPr/>
          <p:nvPr/>
        </p:nvSpPr>
        <p:spPr>
          <a:xfrm>
            <a:off x="3086100" y="3302000"/>
            <a:ext cx="152400" cy="20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4" name="HTTPStep3"/>
          <p:cNvSpPr/>
          <p:nvPr/>
        </p:nvSpPr>
        <p:spPr>
          <a:xfrm>
            <a:off x="762000" y="3556000"/>
            <a:ext cx="4800600" cy="4064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100" b="1" dirty="0">
                <a:solidFill>
                  <a:srgbClr val="1A1A2E"/>
                </a:solidFill>
                <a:latin typeface="Aptos"/>
              </a:rPr>
              <a:t>HMAC-SHA256 Verifikation</a:t>
            </a:r>
          </a:p>
        </p:txBody>
      </p:sp>
      <p:sp>
        <p:nvSpPr>
          <p:cNvPr id="225" name="ArrowHTTP3"/>
          <p:cNvSpPr/>
          <p:nvPr/>
        </p:nvSpPr>
        <p:spPr>
          <a:xfrm>
            <a:off x="3086100" y="4013200"/>
            <a:ext cx="152400" cy="20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6" name="HTTPStep4"/>
          <p:cNvSpPr/>
          <p:nvPr/>
        </p:nvSpPr>
        <p:spPr>
          <a:xfrm>
            <a:off x="762000" y="4267200"/>
            <a:ext cx="4800600" cy="406400"/>
          </a:xfrm>
          <a:prstGeom prst="roundRect">
            <a:avLst>
              <a:gd name="adj" fmla="val 8000"/>
            </a:avLst>
          </a:prstGeom>
          <a:solidFill>
            <a:srgbClr val="E8C46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100" b="1" dirty="0">
                <a:solidFill>
                  <a:srgbClr val="1A1A2E"/>
                </a:solidFill>
                <a:latin typeface="Aptos"/>
              </a:rPr>
              <a:t>Apache Kafka (verified.sensor)</a:t>
            </a:r>
          </a:p>
        </p:txBody>
      </p:sp>
      <p:sp>
        <p:nvSpPr>
          <p:cNvPr id="228" name="HTTPDetail1"/>
          <p:cNvSpPr txBox="1"/>
          <p:nvPr/>
        </p:nvSpPr>
        <p:spPr>
          <a:xfrm>
            <a:off x="584200" y="4775200"/>
            <a:ext cx="5156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1000" dirty="0">
                <a:solidFill>
                  <a:srgbClr val="4A4A5A"/>
                </a:solidFill>
                <a:latin typeface="Aptos"/>
              </a:rPr>
              <a:t>JSON Payload  •  HTTPS/TLS  •  ±20 min Replay-Schutz</a:t>
            </a:r>
          </a:p>
        </p:txBody>
      </p:sp>
      <p:sp>
        <p:nvSpPr>
          <p:cNvPr id="229" name="HTTPDetail2"/>
          <p:cNvSpPr txBox="1"/>
          <p:nvPr/>
        </p:nvSpPr>
        <p:spPr>
          <a:xfrm>
            <a:off x="584200" y="5029200"/>
            <a:ext cx="5156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1000" dirty="0">
                <a:solidFill>
                  <a:srgbClr val="4A4A5A"/>
                </a:solidFill>
                <a:latin typeface="Aptos"/>
              </a:rPr>
              <a:t>Header: X-Sensor-Id • X-Timestamp • X-Signature</a:t>
            </a:r>
          </a:p>
        </p:txBody>
      </p:sp>
      <p:sp>
        <p:nvSpPr>
          <p:cNvPr id="240" name="CardRight"/>
          <p:cNvSpPr/>
          <p:nvPr/>
        </p:nvSpPr>
        <p:spPr>
          <a:xfrm>
            <a:off x="6324600" y="1219200"/>
            <a:ext cx="5562600" cy="4191000"/>
          </a:xfrm>
          <a:prstGeom prst="roundRect">
            <a:avLst>
              <a:gd name="adj" fmla="val 5000"/>
            </a:avLst>
          </a:pr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41" name="LabelLoRa"/>
          <p:cNvSpPr txBox="1"/>
          <p:nvPr/>
        </p:nvSpPr>
        <p:spPr>
          <a:xfrm>
            <a:off x="6527800" y="1346200"/>
            <a:ext cx="5156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1000" dirty="0">
                <a:solidFill>
                  <a:srgbClr val="D4A574"/>
                </a:solidFill>
                <a:latin typeface="Aptos"/>
              </a:rPr>
              <a:t>KANAL B</a:t>
            </a:r>
          </a:p>
        </p:txBody>
      </p:sp>
      <p:sp>
        <p:nvSpPr>
          <p:cNvPr id="242" name="TitleLoRa"/>
          <p:cNvSpPr txBox="1"/>
          <p:nvPr/>
        </p:nvSpPr>
        <p:spPr>
          <a:xfrm>
            <a:off x="6527800" y="1600200"/>
            <a:ext cx="5156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2000" b="1" dirty="0">
                <a:solidFill>
                  <a:srgbClr val="1A1A2E"/>
                </a:solidFill>
                <a:latin typeface="Aptos Display"/>
              </a:rPr>
              <a:t>LoRaWAN / Amazon SNS</a:t>
            </a:r>
          </a:p>
        </p:txBody>
      </p:sp>
      <p:sp>
        <p:nvSpPr>
          <p:cNvPr id="243" name="SepRight"/>
          <p:cNvSpPr/>
          <p:nvPr/>
        </p:nvSpPr>
        <p:spPr>
          <a:xfrm>
            <a:off x="7086600" y="2006600"/>
            <a:ext cx="4038600" cy="127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50" name="LoRaStep1"/>
          <p:cNvSpPr/>
          <p:nvPr/>
        </p:nvSpPr>
        <p:spPr>
          <a:xfrm>
            <a:off x="6705600" y="2133600"/>
            <a:ext cx="4800600" cy="4064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200" b="1" dirty="0">
                <a:solidFill>
                  <a:srgbClr val="1A1A2E"/>
                </a:solidFill>
                <a:latin typeface="Aptos"/>
              </a:rPr>
              <a:t>LoRaWAN-Sensor</a:t>
            </a:r>
          </a:p>
        </p:txBody>
      </p:sp>
      <p:sp>
        <p:nvSpPr>
          <p:cNvPr id="251" name="ArrowLoRa1"/>
          <p:cNvSpPr/>
          <p:nvPr/>
        </p:nvSpPr>
        <p:spPr>
          <a:xfrm>
            <a:off x="9029700" y="2590800"/>
            <a:ext cx="152400" cy="20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52" name="LoRaStep2"/>
          <p:cNvSpPr/>
          <p:nvPr/>
        </p:nvSpPr>
        <p:spPr>
          <a:xfrm>
            <a:off x="6705600" y="2844800"/>
            <a:ext cx="4800600" cy="4064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100" b="1" dirty="0">
                <a:solidFill>
                  <a:srgbClr val="1A1A2E"/>
                </a:solidFill>
                <a:latin typeface="Aptos"/>
              </a:rPr>
              <a:t>Helium Network / ChirpStack</a:t>
            </a:r>
          </a:p>
        </p:txBody>
      </p:sp>
      <p:sp>
        <p:nvSpPr>
          <p:cNvPr id="253" name="ArrowLoRa2"/>
          <p:cNvSpPr/>
          <p:nvPr/>
        </p:nvSpPr>
        <p:spPr>
          <a:xfrm>
            <a:off x="9029700" y="3302000"/>
            <a:ext cx="152400" cy="20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54" name="LoRaStep3"/>
          <p:cNvSpPr/>
          <p:nvPr/>
        </p:nvSpPr>
        <p:spPr>
          <a:xfrm>
            <a:off x="6705600" y="3556000"/>
            <a:ext cx="4800600" cy="4064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100" b="1" dirty="0">
                <a:solidFill>
                  <a:srgbClr val="1A1A2E"/>
                </a:solidFill>
                <a:latin typeface="Aptos"/>
              </a:rPr>
              <a:t>Amazon SNS (HTTPS)</a:t>
            </a:r>
          </a:p>
        </p:txBody>
      </p:sp>
      <p:sp>
        <p:nvSpPr>
          <p:cNvPr id="255" name="ArrowLoRa3"/>
          <p:cNvSpPr/>
          <p:nvPr/>
        </p:nvSpPr>
        <p:spPr>
          <a:xfrm>
            <a:off x="9029700" y="4013200"/>
            <a:ext cx="152400" cy="20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56" name="LoRaStep4"/>
          <p:cNvSpPr/>
          <p:nvPr/>
        </p:nvSpPr>
        <p:spPr>
          <a:xfrm>
            <a:off x="6705600" y="4267200"/>
            <a:ext cx="4800600" cy="406400"/>
          </a:xfrm>
          <a:prstGeom prst="roundRect">
            <a:avLst>
              <a:gd name="adj" fmla="val 8000"/>
            </a:avLst>
          </a:prstGeom>
          <a:solidFill>
            <a:srgbClr val="E8C46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100" b="1" dirty="0">
                <a:solidFill>
                  <a:srgbClr val="1A1A2E"/>
                </a:solidFill>
                <a:latin typeface="Aptos"/>
              </a:rPr>
              <a:t>Apache Kafka (verified.sensor)</a:t>
            </a:r>
          </a:p>
        </p:txBody>
      </p:sp>
      <p:sp>
        <p:nvSpPr>
          <p:cNvPr id="258" name="LoRaDetail1"/>
          <p:cNvSpPr txBox="1"/>
          <p:nvPr/>
        </p:nvSpPr>
        <p:spPr>
          <a:xfrm>
            <a:off x="6527800" y="4775200"/>
            <a:ext cx="5156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1000" dirty="0">
                <a:solidFill>
                  <a:srgbClr val="4A4A5A"/>
                </a:solidFill>
                <a:latin typeface="Aptos"/>
              </a:rPr>
              <a:t>Binär-Payload  •  AES-128  •  LoRa Frame Counter</a:t>
            </a:r>
          </a:p>
        </p:txBody>
      </p:sp>
      <p:sp>
        <p:nvSpPr>
          <p:cNvPr id="259" name="LoRaDetail2"/>
          <p:cNvSpPr txBox="1"/>
          <p:nvPr/>
        </p:nvSpPr>
        <p:spPr>
          <a:xfrm>
            <a:off x="6527800" y="5029200"/>
            <a:ext cx="5156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de-DE" sz="1000" dirty="0">
                <a:solidFill>
                  <a:srgbClr val="4A4A5A"/>
                </a:solidFill>
                <a:latin typeface="Aptos"/>
              </a:rPr>
              <a:t>Secret-Hash (SHA-256)  •  Auto-Subscription</a:t>
            </a:r>
          </a:p>
        </p:txBody>
      </p:sp>
      <p:sp>
        <p:nvSpPr>
          <p:cNvPr id="270" name="BottomBar"/>
          <p:cNvSpPr/>
          <p:nvPr/>
        </p:nvSpPr>
        <p:spPr>
          <a:xfrm>
            <a:off x="381000" y="5562600"/>
            <a:ext cx="11506200" cy="1066800"/>
          </a:xfrm>
          <a:prstGeom prst="roundRect">
            <a:avLst>
              <a:gd name="adj" fmla="val 5000"/>
            </a:avLst>
          </a:prstGeom>
          <a:solidFill>
            <a:srgbClr val="F0EDE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71" name="BottomTitle"/>
          <p:cNvSpPr txBox="1"/>
          <p:nvPr/>
        </p:nvSpPr>
        <p:spPr>
          <a:xfrm>
            <a:off x="533400" y="55880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de-DE" sz="1000" dirty="0">
                <a:solidFill>
                  <a:srgbClr val="D4A574"/>
                </a:solidFill>
                <a:latin typeface="Aptos"/>
              </a:rPr>
              <a:t>VERARBEITUNG</a:t>
            </a:r>
          </a:p>
        </p:txBody>
      </p:sp>
      <p:sp>
        <p:nvSpPr>
          <p:cNvPr id="280" name="Pipe0"/>
          <p:cNvSpPr/>
          <p:nvPr/>
        </p:nvSpPr>
        <p:spPr>
          <a:xfrm>
            <a:off x="533400" y="5867400"/>
            <a:ext cx="2686050" cy="6096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800"/>
              </a:lnSpc>
            </a:pPr>
            <a:r>
              <a:rPr lang="de-DE" sz="1200" b="1" dirty="0">
                <a:solidFill>
                  <a:srgbClr val="1A1A2E"/>
                </a:solidFill>
                <a:latin typeface="Aptos"/>
              </a:rPr>
              <a:t>PostgreSQL</a:t>
            </a:r>
          </a:p>
          <a:p>
            <a:pPr algn="ctr">
              <a:lnSpc>
                <a:spcPts val="1400"/>
              </a:lnSpc>
            </a:pPr>
            <a:r>
              <a:rPr lang="de-DE" sz="1000" dirty="0">
                <a:solidFill>
                  <a:srgbClr val="7A7A8A"/>
                </a:solidFill>
                <a:latin typeface="Aptos"/>
              </a:rPr>
              <a:t>Messwerte speichern</a:t>
            </a:r>
          </a:p>
        </p:txBody>
      </p:sp>
      <p:sp>
        <p:nvSpPr>
          <p:cNvPr id="290" name="PipeArrow0"/>
          <p:cNvSpPr/>
          <p:nvPr/>
        </p:nvSpPr>
        <p:spPr>
          <a:xfrm>
            <a:off x="3232150" y="6108700"/>
            <a:ext cx="127000" cy="127000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81" name="Pipe1"/>
          <p:cNvSpPr/>
          <p:nvPr/>
        </p:nvSpPr>
        <p:spPr>
          <a:xfrm>
            <a:off x="3371850" y="5867400"/>
            <a:ext cx="2686050" cy="6096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800"/>
              </a:lnSpc>
            </a:pPr>
            <a:r>
              <a:rPr lang="de-DE" sz="1200" b="1" dirty="0">
                <a:solidFill>
                  <a:srgbClr val="1A1A2E"/>
                </a:solidFill>
                <a:latin typeface="Aptos"/>
              </a:rPr>
              <a:t>Baseline</a:t>
            </a:r>
          </a:p>
          <a:p>
            <a:pPr algn="ctr">
              <a:lnSpc>
                <a:spcPts val="1400"/>
              </a:lnSpc>
            </a:pPr>
            <a:r>
              <a:rPr lang="de-DE" sz="1000" dirty="0">
                <a:solidFill>
                  <a:srgbClr val="7A7A8A"/>
                </a:solidFill>
                <a:latin typeface="Aptos"/>
              </a:rPr>
              <a:t>72h Rolling Window</a:t>
            </a:r>
          </a:p>
        </p:txBody>
      </p:sp>
      <p:sp>
        <p:nvSpPr>
          <p:cNvPr id="291" name="PipeArrow1"/>
          <p:cNvSpPr/>
          <p:nvPr/>
        </p:nvSpPr>
        <p:spPr>
          <a:xfrm>
            <a:off x="6070600" y="6108700"/>
            <a:ext cx="127000" cy="127000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82" name="Pipe2"/>
          <p:cNvSpPr/>
          <p:nvPr/>
        </p:nvSpPr>
        <p:spPr>
          <a:xfrm>
            <a:off x="6210300" y="5867400"/>
            <a:ext cx="2686050" cy="6096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800"/>
              </a:lnSpc>
            </a:pPr>
            <a:r>
              <a:rPr lang="de-DE" sz="1200" b="1" dirty="0">
                <a:solidFill>
                  <a:srgbClr val="1A1A2E"/>
                </a:solidFill>
                <a:latin typeface="Aptos"/>
              </a:rPr>
              <a:t>Anomalie-Erkennung</a:t>
            </a:r>
          </a:p>
          <a:p>
            <a:pPr algn="ctr">
              <a:lnSpc>
                <a:spcPts val="1400"/>
              </a:lnSpc>
            </a:pPr>
            <a:r>
              <a:rPr lang="de-DE" sz="1000" dirty="0">
                <a:solidFill>
                  <a:srgbClr val="7A7A8A"/>
                </a:solidFill>
                <a:latin typeface="Aptos"/>
              </a:rPr>
              <a:t>Spike • Drop • Drift</a:t>
            </a:r>
          </a:p>
        </p:txBody>
      </p:sp>
      <p:sp>
        <p:nvSpPr>
          <p:cNvPr id="292" name="PipeArrow2"/>
          <p:cNvSpPr/>
          <p:nvPr/>
        </p:nvSpPr>
        <p:spPr>
          <a:xfrm>
            <a:off x="8909050" y="6108700"/>
            <a:ext cx="127000" cy="127000"/>
          </a:xfrm>
          <a:prstGeom prst="rightArrow">
            <a:avLst/>
          </a:prstGeom>
          <a:solidFill>
            <a:srgbClr val="D4A574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83" name="Pipe3"/>
          <p:cNvSpPr/>
          <p:nvPr/>
        </p:nvSpPr>
        <p:spPr>
          <a:xfrm>
            <a:off x="9048750" y="5867400"/>
            <a:ext cx="2686050" cy="60960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800"/>
              </a:lnSpc>
            </a:pPr>
            <a:r>
              <a:rPr lang="de-DE" sz="1200" b="1" dirty="0">
                <a:solidFill>
                  <a:srgbClr val="1A1A2E"/>
                </a:solidFill>
                <a:latin typeface="Aptos"/>
              </a:rPr>
              <a:t>GPT-4 Analyse</a:t>
            </a:r>
          </a:p>
          <a:p>
            <a:pPr algn="ctr">
              <a:lnSpc>
                <a:spcPts val="1400"/>
              </a:lnSpc>
            </a:pPr>
            <a:r>
              <a:rPr lang="de-DE" sz="1000" dirty="0">
                <a:solidFill>
                  <a:srgbClr val="7A7A8A"/>
                </a:solidFill>
                <a:latin typeface="Aptos"/>
              </a:rPr>
              <a:t>Alle 60 Minuten</a:t>
            </a:r>
          </a:p>
        </p:txBody>
      </p:sp>
    </p:spTree>
    <p:extLst>
      <p:ext uri="{BB962C8B-B14F-4D97-AF65-F5344CB8AC3E}">
        <p14:creationId xmlns:p14="http://schemas.microsoft.com/office/powerpoint/2010/main" val="3061733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Microsoft Macintosh PowerPoint</Application>
  <PresentationFormat>Breitbild</PresentationFormat>
  <Paragraphs>56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Autarke IoT-Wetterstation
mit LoRaWAN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Knoll</dc:creator>
  <cp:lastModifiedBy>Felix Knoll</cp:lastModifiedBy>
  <cp:revision>1</cp:revision>
  <dcterms:created xsi:type="dcterms:W3CDTF">2026-03-18T14:05:00Z</dcterms:created>
  <dcterms:modified xsi:type="dcterms:W3CDTF">2026-03-18T14:05:25Z</dcterms:modified>
</cp:coreProperties>
</file>